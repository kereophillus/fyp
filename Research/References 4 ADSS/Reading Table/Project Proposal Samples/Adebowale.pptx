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3" r:id="rId2"/>
    <p:sldId id="261" r:id="rId3"/>
    <p:sldId id="262" r:id="rId4"/>
    <p:sldId id="259" r:id="rId5"/>
    <p:sldId id="465" r:id="rId6"/>
    <p:sldId id="466" r:id="rId7"/>
    <p:sldId id="476" r:id="rId8"/>
    <p:sldId id="468" r:id="rId9"/>
    <p:sldId id="469" r:id="rId10"/>
    <p:sldId id="472" r:id="rId11"/>
    <p:sldId id="471" r:id="rId12"/>
    <p:sldId id="473" r:id="rId13"/>
    <p:sldId id="474" r:id="rId14"/>
    <p:sldId id="475" r:id="rId15"/>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50" autoAdjust="0"/>
    <p:restoredTop sz="94660"/>
  </p:normalViewPr>
  <p:slideViewPr>
    <p:cSldViewPr snapToGrid="0">
      <p:cViewPr varScale="1">
        <p:scale>
          <a:sx n="71" d="100"/>
          <a:sy n="71" d="100"/>
        </p:scale>
        <p:origin x="852"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F7C1FA-FBEF-4E8A-9CE8-56E10F8367CE}"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53639CCB-D737-4C9A-B38A-F2F4E4C1F0CF}">
      <dgm:prSet custT="1"/>
      <dgm:spPr/>
      <dgm:t>
        <a:bodyPr/>
        <a:lstStyle/>
        <a:p>
          <a:r>
            <a:rPr lang="en-US" sz="1800" dirty="0">
              <a:latin typeface="Arial" panose="020B0604020202020204" pitchFamily="34" charset="0"/>
              <a:cs typeface="Arial" panose="020B0604020202020204" pitchFamily="34" charset="0"/>
            </a:rPr>
            <a:t>Maize is a cereal grain originating from the America’s, which grown worldwide now, it consist of “white maize and Yellow maize” ( Ikedike, 2022).</a:t>
          </a:r>
          <a:endParaRPr lang="en-US" sz="1800" dirty="0"/>
        </a:p>
      </dgm:t>
    </dgm:pt>
    <dgm:pt modelId="{23E2683B-F472-4AFD-8224-06C52A4489A0}" type="parTrans" cxnId="{A6F431DA-8BBB-4ED8-BDC8-FFE24F8A3DA4}">
      <dgm:prSet/>
      <dgm:spPr/>
      <dgm:t>
        <a:bodyPr/>
        <a:lstStyle/>
        <a:p>
          <a:endParaRPr lang="en-US"/>
        </a:p>
      </dgm:t>
    </dgm:pt>
    <dgm:pt modelId="{0086AF78-C0A0-4F34-94C1-1975CB8A516C}" type="sibTrans" cxnId="{A6F431DA-8BBB-4ED8-BDC8-FFE24F8A3DA4}">
      <dgm:prSet/>
      <dgm:spPr/>
      <dgm:t>
        <a:bodyPr/>
        <a:lstStyle/>
        <a:p>
          <a:endParaRPr lang="en-US"/>
        </a:p>
      </dgm:t>
    </dgm:pt>
    <dgm:pt modelId="{0877FFBC-866B-4F70-9876-A4D77FF9369B}">
      <dgm:prSet custT="1"/>
      <dgm:spPr/>
      <dgm:t>
        <a:bodyPr/>
        <a:lstStyle/>
        <a:p>
          <a:r>
            <a:rPr lang="en-US" sz="1800" dirty="0"/>
            <a:t>Detection is a process of finding out about items features.</a:t>
          </a:r>
        </a:p>
        <a:p>
          <a:r>
            <a:rPr lang="en-US" sz="1800" dirty="0"/>
            <a:t>Classification is a process of putting items into different bins.</a:t>
          </a:r>
        </a:p>
      </dgm:t>
    </dgm:pt>
    <dgm:pt modelId="{78600DC2-58FB-4D10-A3A8-33B3D4C56BD5}" type="parTrans" cxnId="{8C9EFD76-9B09-4868-A99D-901D2C0460BE}">
      <dgm:prSet/>
      <dgm:spPr/>
      <dgm:t>
        <a:bodyPr/>
        <a:lstStyle/>
        <a:p>
          <a:endParaRPr lang="en-US"/>
        </a:p>
      </dgm:t>
    </dgm:pt>
    <dgm:pt modelId="{65C3C06E-F534-4F7D-97B8-89B2551E9E7E}" type="sibTrans" cxnId="{8C9EFD76-9B09-4868-A99D-901D2C0460BE}">
      <dgm:prSet/>
      <dgm:spPr/>
      <dgm:t>
        <a:bodyPr/>
        <a:lstStyle/>
        <a:p>
          <a:endParaRPr lang="en-US"/>
        </a:p>
      </dgm:t>
    </dgm:pt>
    <dgm:pt modelId="{EE3C195D-52F6-4071-AAE4-7B7D349471A4}">
      <dgm:prSet custT="1"/>
      <dgm:spPr/>
      <dgm:t>
        <a:bodyPr/>
        <a:lstStyle/>
        <a:p>
          <a:r>
            <a:rPr lang="en-US" sz="1800" dirty="0"/>
            <a:t>CNN also called ConvNet is a specialized deep learning algorithm primarily used for tasks like image recognition, object detection, and classification.</a:t>
          </a:r>
        </a:p>
      </dgm:t>
    </dgm:pt>
    <dgm:pt modelId="{BA4B8C35-BF34-4ED7-BBF5-261C51C7A1B7}" type="parTrans" cxnId="{82A135FB-B691-4BBF-B030-A777C43720C7}">
      <dgm:prSet/>
      <dgm:spPr/>
      <dgm:t>
        <a:bodyPr/>
        <a:lstStyle/>
        <a:p>
          <a:endParaRPr lang="en-US"/>
        </a:p>
      </dgm:t>
    </dgm:pt>
    <dgm:pt modelId="{60A3B489-578A-4DDE-83BC-9EE07DFA61CF}" type="sibTrans" cxnId="{82A135FB-B691-4BBF-B030-A777C43720C7}">
      <dgm:prSet/>
      <dgm:spPr/>
      <dgm:t>
        <a:bodyPr/>
        <a:lstStyle/>
        <a:p>
          <a:endParaRPr lang="en-US"/>
        </a:p>
      </dgm:t>
    </dgm:pt>
    <dgm:pt modelId="{C21F224B-252A-457C-B52F-661DC290D01F}">
      <dgm:prSet/>
      <dgm:spPr/>
      <dgm:t>
        <a:bodyPr/>
        <a:lstStyle/>
        <a:p>
          <a:r>
            <a:rPr lang="en-US" dirty="0">
              <a:latin typeface="Arial" panose="020B0604020202020204" pitchFamily="34" charset="0"/>
              <a:cs typeface="Arial" panose="020B0604020202020204" pitchFamily="34" charset="0"/>
            </a:rPr>
            <a:t>Diseases that occur at the early stage of maize crop pose a significant threat to production of maize, leading to reduced yields, subsistence and commercial losses, finally economical losses. </a:t>
          </a:r>
          <a:endParaRPr lang="en-US" dirty="0"/>
        </a:p>
      </dgm:t>
    </dgm:pt>
    <dgm:pt modelId="{1969588B-EB83-4E15-893D-D56D1FD5C664}" type="parTrans" cxnId="{DF2B9029-C5A1-426B-A1C6-FB66276CCA55}">
      <dgm:prSet/>
      <dgm:spPr/>
      <dgm:t>
        <a:bodyPr/>
        <a:lstStyle/>
        <a:p>
          <a:endParaRPr lang="en-US"/>
        </a:p>
      </dgm:t>
    </dgm:pt>
    <dgm:pt modelId="{B304FEC1-0845-4B68-BAFF-0784687423B8}" type="sibTrans" cxnId="{DF2B9029-C5A1-426B-A1C6-FB66276CCA55}">
      <dgm:prSet/>
      <dgm:spPr/>
      <dgm:t>
        <a:bodyPr/>
        <a:lstStyle/>
        <a:p>
          <a:endParaRPr lang="en-US"/>
        </a:p>
      </dgm:t>
    </dgm:pt>
    <dgm:pt modelId="{8A6DEA24-47C3-4C19-AF43-822EAD8201AC}">
      <dgm:prSet custT="1"/>
      <dgm:spPr/>
      <dgm:t>
        <a:bodyPr/>
        <a:lstStyle/>
        <a:p>
          <a:r>
            <a:rPr lang="en-US" sz="2000" dirty="0">
              <a:latin typeface="Arial" panose="020B0604020202020204" pitchFamily="34" charset="0"/>
              <a:cs typeface="Arial" panose="020B0604020202020204" pitchFamily="34" charset="0"/>
            </a:rPr>
            <a:t>CNN is proposed as a solution for the detection and classification of maize diseases in this research. </a:t>
          </a:r>
          <a:endParaRPr lang="en-US" sz="2000" dirty="0"/>
        </a:p>
      </dgm:t>
    </dgm:pt>
    <dgm:pt modelId="{D8E2642C-9B32-4AFB-AB52-98C30EB9095D}" type="parTrans" cxnId="{0A75BBA0-CC73-4A61-9DE4-40A1825C6652}">
      <dgm:prSet/>
      <dgm:spPr/>
      <dgm:t>
        <a:bodyPr/>
        <a:lstStyle/>
        <a:p>
          <a:endParaRPr lang="en-NG"/>
        </a:p>
      </dgm:t>
    </dgm:pt>
    <dgm:pt modelId="{4F2D779F-90AB-4C67-8770-C530E68723B2}" type="sibTrans" cxnId="{0A75BBA0-CC73-4A61-9DE4-40A1825C6652}">
      <dgm:prSet/>
      <dgm:spPr/>
      <dgm:t>
        <a:bodyPr/>
        <a:lstStyle/>
        <a:p>
          <a:endParaRPr lang="en-NG"/>
        </a:p>
      </dgm:t>
    </dgm:pt>
    <dgm:pt modelId="{7C4FB4F0-4C68-44AC-B7A3-D712A36AA700}" type="pres">
      <dgm:prSet presAssocID="{8EF7C1FA-FBEF-4E8A-9CE8-56E10F8367CE}" presName="CompostProcess" presStyleCnt="0">
        <dgm:presLayoutVars>
          <dgm:dir/>
          <dgm:resizeHandles val="exact"/>
        </dgm:presLayoutVars>
      </dgm:prSet>
      <dgm:spPr/>
    </dgm:pt>
    <dgm:pt modelId="{C502698C-30D7-48E0-9D41-CBDDB685DA49}" type="pres">
      <dgm:prSet presAssocID="{8EF7C1FA-FBEF-4E8A-9CE8-56E10F8367CE}" presName="arrow" presStyleLbl="bgShp" presStyleIdx="0" presStyleCnt="1" custScaleX="117647" custLinFactNeighborY="-213"/>
      <dgm:spPr/>
    </dgm:pt>
    <dgm:pt modelId="{67ACFC09-377E-4EC4-A4FC-C43780C54347}" type="pres">
      <dgm:prSet presAssocID="{8EF7C1FA-FBEF-4E8A-9CE8-56E10F8367CE}" presName="linearProcess" presStyleCnt="0"/>
      <dgm:spPr/>
    </dgm:pt>
    <dgm:pt modelId="{89928285-40B9-40B2-819A-23A1F6C11D6F}" type="pres">
      <dgm:prSet presAssocID="{53639CCB-D737-4C9A-B38A-F2F4E4C1F0CF}" presName="textNode" presStyleLbl="node1" presStyleIdx="0" presStyleCnt="5" custScaleX="105628" custScaleY="153692">
        <dgm:presLayoutVars>
          <dgm:bulletEnabled val="1"/>
        </dgm:presLayoutVars>
      </dgm:prSet>
      <dgm:spPr/>
    </dgm:pt>
    <dgm:pt modelId="{D31152C0-FF27-4AAF-9F2B-B4BE8A4DA5A9}" type="pres">
      <dgm:prSet presAssocID="{0086AF78-C0A0-4F34-94C1-1975CB8A516C}" presName="sibTrans" presStyleCnt="0"/>
      <dgm:spPr/>
    </dgm:pt>
    <dgm:pt modelId="{21526B0B-7F3A-4452-80A4-4D125BA41891}" type="pres">
      <dgm:prSet presAssocID="{0877FFBC-866B-4F70-9876-A4D77FF9369B}" presName="textNode" presStyleLbl="node1" presStyleIdx="1" presStyleCnt="5" custScaleX="113268" custScaleY="155261">
        <dgm:presLayoutVars>
          <dgm:bulletEnabled val="1"/>
        </dgm:presLayoutVars>
      </dgm:prSet>
      <dgm:spPr/>
    </dgm:pt>
    <dgm:pt modelId="{EB4E86D3-89E3-4E09-A54C-717AE48B9162}" type="pres">
      <dgm:prSet presAssocID="{65C3C06E-F534-4F7D-97B8-89B2551E9E7E}" presName="sibTrans" presStyleCnt="0"/>
      <dgm:spPr/>
    </dgm:pt>
    <dgm:pt modelId="{2F122DB8-F526-4ED0-95E9-69464AA66511}" type="pres">
      <dgm:prSet presAssocID="{EE3C195D-52F6-4071-AAE4-7B7D349471A4}" presName="textNode" presStyleLbl="node1" presStyleIdx="2" presStyleCnt="5" custScaleX="122587" custScaleY="149660">
        <dgm:presLayoutVars>
          <dgm:bulletEnabled val="1"/>
        </dgm:presLayoutVars>
      </dgm:prSet>
      <dgm:spPr/>
    </dgm:pt>
    <dgm:pt modelId="{0B2B84F4-4195-41CF-A03B-BE092FDB2DEB}" type="pres">
      <dgm:prSet presAssocID="{60A3B489-578A-4DDE-83BC-9EE07DFA61CF}" presName="sibTrans" presStyleCnt="0"/>
      <dgm:spPr/>
    </dgm:pt>
    <dgm:pt modelId="{AE7A28CF-3663-4AA6-9687-74CBE7692320}" type="pres">
      <dgm:prSet presAssocID="{C21F224B-252A-457C-B52F-661DC290D01F}" presName="textNode" presStyleLbl="node1" presStyleIdx="3" presStyleCnt="5" custScaleX="118045" custScaleY="149153" custLinFactNeighborX="-3025" custLinFactNeighborY="2270">
        <dgm:presLayoutVars>
          <dgm:bulletEnabled val="1"/>
        </dgm:presLayoutVars>
      </dgm:prSet>
      <dgm:spPr/>
    </dgm:pt>
    <dgm:pt modelId="{80C0AE87-4765-40B3-AFE4-EE4E8AE771CC}" type="pres">
      <dgm:prSet presAssocID="{B304FEC1-0845-4B68-BAFF-0784687423B8}" presName="sibTrans" presStyleCnt="0"/>
      <dgm:spPr/>
    </dgm:pt>
    <dgm:pt modelId="{B03C7A30-1EDE-408D-9605-43AFA75A8D71}" type="pres">
      <dgm:prSet presAssocID="{8A6DEA24-47C3-4C19-AF43-822EAD8201AC}" presName="textNode" presStyleLbl="node1" presStyleIdx="4" presStyleCnt="5" custScaleX="108510" custScaleY="156936" custLinFactNeighborX="29763" custLinFactNeighborY="2715">
        <dgm:presLayoutVars>
          <dgm:bulletEnabled val="1"/>
        </dgm:presLayoutVars>
      </dgm:prSet>
      <dgm:spPr/>
    </dgm:pt>
  </dgm:ptLst>
  <dgm:cxnLst>
    <dgm:cxn modelId="{DF2B9029-C5A1-426B-A1C6-FB66276CCA55}" srcId="{8EF7C1FA-FBEF-4E8A-9CE8-56E10F8367CE}" destId="{C21F224B-252A-457C-B52F-661DC290D01F}" srcOrd="3" destOrd="0" parTransId="{1969588B-EB83-4E15-893D-D56D1FD5C664}" sibTransId="{B304FEC1-0845-4B68-BAFF-0784687423B8}"/>
    <dgm:cxn modelId="{29E25B66-C0D3-402D-B5D9-1A646F8EF3ED}" type="presOf" srcId="{8A6DEA24-47C3-4C19-AF43-822EAD8201AC}" destId="{B03C7A30-1EDE-408D-9605-43AFA75A8D71}" srcOrd="0" destOrd="0" presId="urn:microsoft.com/office/officeart/2005/8/layout/hProcess9"/>
    <dgm:cxn modelId="{8ACDF770-3737-4C00-9496-21E7720BACA9}" type="presOf" srcId="{C21F224B-252A-457C-B52F-661DC290D01F}" destId="{AE7A28CF-3663-4AA6-9687-74CBE7692320}" srcOrd="0" destOrd="0" presId="urn:microsoft.com/office/officeart/2005/8/layout/hProcess9"/>
    <dgm:cxn modelId="{8C9EFD76-9B09-4868-A99D-901D2C0460BE}" srcId="{8EF7C1FA-FBEF-4E8A-9CE8-56E10F8367CE}" destId="{0877FFBC-866B-4F70-9876-A4D77FF9369B}" srcOrd="1" destOrd="0" parTransId="{78600DC2-58FB-4D10-A3A8-33B3D4C56BD5}" sibTransId="{65C3C06E-F534-4F7D-97B8-89B2551E9E7E}"/>
    <dgm:cxn modelId="{57582885-6DE1-4FC6-9E74-BFB57B05D089}" type="presOf" srcId="{EE3C195D-52F6-4071-AAE4-7B7D349471A4}" destId="{2F122DB8-F526-4ED0-95E9-69464AA66511}" srcOrd="0" destOrd="0" presId="urn:microsoft.com/office/officeart/2005/8/layout/hProcess9"/>
    <dgm:cxn modelId="{0A75BBA0-CC73-4A61-9DE4-40A1825C6652}" srcId="{8EF7C1FA-FBEF-4E8A-9CE8-56E10F8367CE}" destId="{8A6DEA24-47C3-4C19-AF43-822EAD8201AC}" srcOrd="4" destOrd="0" parTransId="{D8E2642C-9B32-4AFB-AB52-98C30EB9095D}" sibTransId="{4F2D779F-90AB-4C67-8770-C530E68723B2}"/>
    <dgm:cxn modelId="{68EDC7AA-9558-42DE-9741-B382403502AF}" type="presOf" srcId="{53639CCB-D737-4C9A-B38A-F2F4E4C1F0CF}" destId="{89928285-40B9-40B2-819A-23A1F6C11D6F}" srcOrd="0" destOrd="0" presId="urn:microsoft.com/office/officeart/2005/8/layout/hProcess9"/>
    <dgm:cxn modelId="{568E05CD-47CE-4E69-A838-CD37EE7F3582}" type="presOf" srcId="{0877FFBC-866B-4F70-9876-A4D77FF9369B}" destId="{21526B0B-7F3A-4452-80A4-4D125BA41891}" srcOrd="0" destOrd="0" presId="urn:microsoft.com/office/officeart/2005/8/layout/hProcess9"/>
    <dgm:cxn modelId="{B52156D0-D918-43D7-A24A-74DE2C408DE0}" type="presOf" srcId="{8EF7C1FA-FBEF-4E8A-9CE8-56E10F8367CE}" destId="{7C4FB4F0-4C68-44AC-B7A3-D712A36AA700}" srcOrd="0" destOrd="0" presId="urn:microsoft.com/office/officeart/2005/8/layout/hProcess9"/>
    <dgm:cxn modelId="{A6F431DA-8BBB-4ED8-BDC8-FFE24F8A3DA4}" srcId="{8EF7C1FA-FBEF-4E8A-9CE8-56E10F8367CE}" destId="{53639CCB-D737-4C9A-B38A-F2F4E4C1F0CF}" srcOrd="0" destOrd="0" parTransId="{23E2683B-F472-4AFD-8224-06C52A4489A0}" sibTransId="{0086AF78-C0A0-4F34-94C1-1975CB8A516C}"/>
    <dgm:cxn modelId="{82A135FB-B691-4BBF-B030-A777C43720C7}" srcId="{8EF7C1FA-FBEF-4E8A-9CE8-56E10F8367CE}" destId="{EE3C195D-52F6-4071-AAE4-7B7D349471A4}" srcOrd="2" destOrd="0" parTransId="{BA4B8C35-BF34-4ED7-BBF5-261C51C7A1B7}" sibTransId="{60A3B489-578A-4DDE-83BC-9EE07DFA61CF}"/>
    <dgm:cxn modelId="{DDB5831C-F559-484F-9116-7CCB59F5B66C}" type="presParOf" srcId="{7C4FB4F0-4C68-44AC-B7A3-D712A36AA700}" destId="{C502698C-30D7-48E0-9D41-CBDDB685DA49}" srcOrd="0" destOrd="0" presId="urn:microsoft.com/office/officeart/2005/8/layout/hProcess9"/>
    <dgm:cxn modelId="{5547CBC4-8153-4495-8E15-9E4AE76523C5}" type="presParOf" srcId="{7C4FB4F0-4C68-44AC-B7A3-D712A36AA700}" destId="{67ACFC09-377E-4EC4-A4FC-C43780C54347}" srcOrd="1" destOrd="0" presId="urn:microsoft.com/office/officeart/2005/8/layout/hProcess9"/>
    <dgm:cxn modelId="{523A8F5E-44A8-42CE-9885-07D91A67F9B8}" type="presParOf" srcId="{67ACFC09-377E-4EC4-A4FC-C43780C54347}" destId="{89928285-40B9-40B2-819A-23A1F6C11D6F}" srcOrd="0" destOrd="0" presId="urn:microsoft.com/office/officeart/2005/8/layout/hProcess9"/>
    <dgm:cxn modelId="{021055E8-5379-46BD-A0B9-EF42E47E3ACD}" type="presParOf" srcId="{67ACFC09-377E-4EC4-A4FC-C43780C54347}" destId="{D31152C0-FF27-4AAF-9F2B-B4BE8A4DA5A9}" srcOrd="1" destOrd="0" presId="urn:microsoft.com/office/officeart/2005/8/layout/hProcess9"/>
    <dgm:cxn modelId="{0CA18031-8AA0-4FA5-8D9B-D3FA40687928}" type="presParOf" srcId="{67ACFC09-377E-4EC4-A4FC-C43780C54347}" destId="{21526B0B-7F3A-4452-80A4-4D125BA41891}" srcOrd="2" destOrd="0" presId="urn:microsoft.com/office/officeart/2005/8/layout/hProcess9"/>
    <dgm:cxn modelId="{9DC03415-BBFA-40A5-81CF-BBBA0E0CC12F}" type="presParOf" srcId="{67ACFC09-377E-4EC4-A4FC-C43780C54347}" destId="{EB4E86D3-89E3-4E09-A54C-717AE48B9162}" srcOrd="3" destOrd="0" presId="urn:microsoft.com/office/officeart/2005/8/layout/hProcess9"/>
    <dgm:cxn modelId="{6D96C587-C927-46ED-B191-B8264BF83B36}" type="presParOf" srcId="{67ACFC09-377E-4EC4-A4FC-C43780C54347}" destId="{2F122DB8-F526-4ED0-95E9-69464AA66511}" srcOrd="4" destOrd="0" presId="urn:microsoft.com/office/officeart/2005/8/layout/hProcess9"/>
    <dgm:cxn modelId="{92B7C5D4-DAAD-46AB-8BF9-6641A6B79B67}" type="presParOf" srcId="{67ACFC09-377E-4EC4-A4FC-C43780C54347}" destId="{0B2B84F4-4195-41CF-A03B-BE092FDB2DEB}" srcOrd="5" destOrd="0" presId="urn:microsoft.com/office/officeart/2005/8/layout/hProcess9"/>
    <dgm:cxn modelId="{AEB4D1D6-8444-4286-ACC4-D5BE6930B96D}" type="presParOf" srcId="{67ACFC09-377E-4EC4-A4FC-C43780C54347}" destId="{AE7A28CF-3663-4AA6-9687-74CBE7692320}" srcOrd="6" destOrd="0" presId="urn:microsoft.com/office/officeart/2005/8/layout/hProcess9"/>
    <dgm:cxn modelId="{CBE3CD23-F66F-48DD-B631-3A65CE0F12BB}" type="presParOf" srcId="{67ACFC09-377E-4EC4-A4FC-C43780C54347}" destId="{80C0AE87-4765-40B3-AFE4-EE4E8AE771CC}" srcOrd="7" destOrd="0" presId="urn:microsoft.com/office/officeart/2005/8/layout/hProcess9"/>
    <dgm:cxn modelId="{13E4F17E-43B2-4D95-A2B0-1D09A4CD36A1}" type="presParOf" srcId="{67ACFC09-377E-4EC4-A4FC-C43780C54347}" destId="{B03C7A30-1EDE-408D-9605-43AFA75A8D71}"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78144D-A971-45BA-B6B6-334E6A699FE5}"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DFE29AC-B147-4AE0-956F-8AE903522F76}">
      <dgm:prSet/>
      <dgm:spPr/>
      <dgm:t>
        <a:bodyPr/>
        <a:lstStyle/>
        <a:p>
          <a:r>
            <a:rPr lang="en-US" dirty="0">
              <a:latin typeface=" Arial"/>
            </a:rPr>
            <a:t>Time consumption spent in using the traditional method of maize disease detection  </a:t>
          </a:r>
        </a:p>
      </dgm:t>
    </dgm:pt>
    <dgm:pt modelId="{340A7C21-6EA1-4950-842F-A914003AA28D}" type="parTrans" cxnId="{008D8491-4C69-4368-AC82-C1880A5D19FC}">
      <dgm:prSet/>
      <dgm:spPr/>
      <dgm:t>
        <a:bodyPr/>
        <a:lstStyle/>
        <a:p>
          <a:endParaRPr lang="en-US"/>
        </a:p>
      </dgm:t>
    </dgm:pt>
    <dgm:pt modelId="{0C4F56DC-CC08-4F8E-81EA-782E10C51211}" type="sibTrans" cxnId="{008D8491-4C69-4368-AC82-C1880A5D19FC}">
      <dgm:prSet/>
      <dgm:spPr/>
      <dgm:t>
        <a:bodyPr/>
        <a:lstStyle/>
        <a:p>
          <a:endParaRPr lang="en-US"/>
        </a:p>
      </dgm:t>
    </dgm:pt>
    <dgm:pt modelId="{DAABCF2E-40A6-4632-860A-BFFB1286177E}">
      <dgm:prSet/>
      <dgm:spPr/>
      <dgm:t>
        <a:bodyPr/>
        <a:lstStyle/>
        <a:p>
          <a:r>
            <a:rPr lang="en-US" dirty="0">
              <a:latin typeface=" Arial"/>
            </a:rPr>
            <a:t>The Insufficient use of diverse maize leaves with different diseases. </a:t>
          </a:r>
        </a:p>
        <a:p>
          <a:r>
            <a:rPr lang="en-US" b="0" i="0" dirty="0">
              <a:latin typeface=" Arial"/>
            </a:rPr>
            <a:t>These results also support the fact that deep learning models require huge number of training samples</a:t>
          </a:r>
          <a:br>
            <a:rPr lang="en-US" dirty="0">
              <a:latin typeface=" Arial"/>
            </a:rPr>
          </a:br>
          <a:r>
            <a:rPr lang="en-US" b="0" i="0" dirty="0">
              <a:latin typeface=" Arial"/>
            </a:rPr>
            <a:t>to learn and capture the inherent features from the data under </a:t>
          </a:r>
          <a:r>
            <a:rPr lang="en-US" b="0" i="0" dirty="0"/>
            <a:t>study(</a:t>
          </a:r>
          <a:r>
            <a:rPr lang="en-US" dirty="0"/>
            <a:t>Haque</a:t>
          </a:r>
          <a:r>
            <a:rPr lang="en-US" b="0" i="0" u="none" strike="noStrike" cap="none" dirty="0">
              <a:solidFill>
                <a:schemeClr val="tx1"/>
              </a:solidFill>
              <a:effectLst/>
              <a:latin typeface=" Arial"/>
              <a:ea typeface="+mn-ea"/>
              <a:cs typeface="Arial" panose="020B0604020202020204" pitchFamily="34" charset="0"/>
              <a:sym typeface="Arial"/>
            </a:rPr>
            <a:t>, 2019</a:t>
          </a:r>
          <a:r>
            <a:rPr lang="en-US"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endParaRPr lang="en-US" dirty="0"/>
        </a:p>
        <a:p>
          <a:endParaRPr lang="en-US" dirty="0"/>
        </a:p>
      </dgm:t>
    </dgm:pt>
    <dgm:pt modelId="{D32F3759-8901-4DB5-917D-D6C3F9B9C6F6}" type="parTrans" cxnId="{2D70B473-5D9A-428B-A90B-E310FF9B9132}">
      <dgm:prSet/>
      <dgm:spPr/>
      <dgm:t>
        <a:bodyPr/>
        <a:lstStyle/>
        <a:p>
          <a:endParaRPr lang="en-US"/>
        </a:p>
      </dgm:t>
    </dgm:pt>
    <dgm:pt modelId="{B9702386-E275-43A1-8563-1FE58BF91BE2}" type="sibTrans" cxnId="{2D70B473-5D9A-428B-A90B-E310FF9B9132}">
      <dgm:prSet/>
      <dgm:spPr/>
      <dgm:t>
        <a:bodyPr/>
        <a:lstStyle/>
        <a:p>
          <a:endParaRPr lang="en-US"/>
        </a:p>
      </dgm:t>
    </dgm:pt>
    <dgm:pt modelId="{8F2784E8-3002-4F8D-A953-FA0295C1B38C}" type="pres">
      <dgm:prSet presAssocID="{A578144D-A971-45BA-B6B6-334E6A699FE5}" presName="hierChild1" presStyleCnt="0">
        <dgm:presLayoutVars>
          <dgm:chPref val="1"/>
          <dgm:dir/>
          <dgm:animOne val="branch"/>
          <dgm:animLvl val="lvl"/>
          <dgm:resizeHandles/>
        </dgm:presLayoutVars>
      </dgm:prSet>
      <dgm:spPr/>
    </dgm:pt>
    <dgm:pt modelId="{4BDDD20F-4E26-4174-86E3-9C2F1553DB59}" type="pres">
      <dgm:prSet presAssocID="{7DFE29AC-B147-4AE0-956F-8AE903522F76}" presName="hierRoot1" presStyleCnt="0"/>
      <dgm:spPr/>
    </dgm:pt>
    <dgm:pt modelId="{23F62BB6-FED4-47D2-8271-FE1CA87D876E}" type="pres">
      <dgm:prSet presAssocID="{7DFE29AC-B147-4AE0-956F-8AE903522F76}" presName="composite" presStyleCnt="0"/>
      <dgm:spPr/>
    </dgm:pt>
    <dgm:pt modelId="{F9179E12-D10A-47FD-A745-10E2A24054D6}" type="pres">
      <dgm:prSet presAssocID="{7DFE29AC-B147-4AE0-956F-8AE903522F76}" presName="background" presStyleLbl="node0" presStyleIdx="0" presStyleCnt="2"/>
      <dgm:spPr/>
    </dgm:pt>
    <dgm:pt modelId="{4D468E5F-8C60-43C2-B7C1-96BDF0E4CD47}" type="pres">
      <dgm:prSet presAssocID="{7DFE29AC-B147-4AE0-956F-8AE903522F76}" presName="text" presStyleLbl="fgAcc0" presStyleIdx="0" presStyleCnt="2" custScaleY="154401" custLinFactNeighborX="-1796" custLinFactNeighborY="-269">
        <dgm:presLayoutVars>
          <dgm:chPref val="3"/>
        </dgm:presLayoutVars>
      </dgm:prSet>
      <dgm:spPr/>
    </dgm:pt>
    <dgm:pt modelId="{7A1FAF78-EAC3-456B-AE01-7C7B2EB0EBE2}" type="pres">
      <dgm:prSet presAssocID="{7DFE29AC-B147-4AE0-956F-8AE903522F76}" presName="hierChild2" presStyleCnt="0"/>
      <dgm:spPr/>
    </dgm:pt>
    <dgm:pt modelId="{7843B918-24E9-49A3-818B-7DAC4B8B2D62}" type="pres">
      <dgm:prSet presAssocID="{DAABCF2E-40A6-4632-860A-BFFB1286177E}" presName="hierRoot1" presStyleCnt="0"/>
      <dgm:spPr/>
    </dgm:pt>
    <dgm:pt modelId="{47B4BFD7-ABAE-4A90-B6A1-64B481573C86}" type="pres">
      <dgm:prSet presAssocID="{DAABCF2E-40A6-4632-860A-BFFB1286177E}" presName="composite" presStyleCnt="0"/>
      <dgm:spPr/>
    </dgm:pt>
    <dgm:pt modelId="{8D9FD5BD-DD5C-412B-B40F-1835A40C8E07}" type="pres">
      <dgm:prSet presAssocID="{DAABCF2E-40A6-4632-860A-BFFB1286177E}" presName="background" presStyleLbl="node0" presStyleIdx="1" presStyleCnt="2"/>
      <dgm:spPr/>
    </dgm:pt>
    <dgm:pt modelId="{2843FD3E-B2FE-4867-91E3-3EBE72350514}" type="pres">
      <dgm:prSet presAssocID="{DAABCF2E-40A6-4632-860A-BFFB1286177E}" presName="text" presStyleLbl="fgAcc0" presStyleIdx="1" presStyleCnt="2" custScaleY="145316">
        <dgm:presLayoutVars>
          <dgm:chPref val="3"/>
        </dgm:presLayoutVars>
      </dgm:prSet>
      <dgm:spPr/>
    </dgm:pt>
    <dgm:pt modelId="{E520C0C4-5C10-46FD-877B-9332B1E1B5E5}" type="pres">
      <dgm:prSet presAssocID="{DAABCF2E-40A6-4632-860A-BFFB1286177E}" presName="hierChild2" presStyleCnt="0"/>
      <dgm:spPr/>
    </dgm:pt>
  </dgm:ptLst>
  <dgm:cxnLst>
    <dgm:cxn modelId="{D6C5F113-813D-479A-99B5-28ED9D372E84}" type="presOf" srcId="{DAABCF2E-40A6-4632-860A-BFFB1286177E}" destId="{2843FD3E-B2FE-4867-91E3-3EBE72350514}" srcOrd="0" destOrd="0" presId="urn:microsoft.com/office/officeart/2005/8/layout/hierarchy1"/>
    <dgm:cxn modelId="{2D70B473-5D9A-428B-A90B-E310FF9B9132}" srcId="{A578144D-A971-45BA-B6B6-334E6A699FE5}" destId="{DAABCF2E-40A6-4632-860A-BFFB1286177E}" srcOrd="1" destOrd="0" parTransId="{D32F3759-8901-4DB5-917D-D6C3F9B9C6F6}" sibTransId="{B9702386-E275-43A1-8563-1FE58BF91BE2}"/>
    <dgm:cxn modelId="{1114128F-FE1A-4B23-97E9-A0BAB659D4D5}" type="presOf" srcId="{A578144D-A971-45BA-B6B6-334E6A699FE5}" destId="{8F2784E8-3002-4F8D-A953-FA0295C1B38C}" srcOrd="0" destOrd="0" presId="urn:microsoft.com/office/officeart/2005/8/layout/hierarchy1"/>
    <dgm:cxn modelId="{008D8491-4C69-4368-AC82-C1880A5D19FC}" srcId="{A578144D-A971-45BA-B6B6-334E6A699FE5}" destId="{7DFE29AC-B147-4AE0-956F-8AE903522F76}" srcOrd="0" destOrd="0" parTransId="{340A7C21-6EA1-4950-842F-A914003AA28D}" sibTransId="{0C4F56DC-CC08-4F8E-81EA-782E10C51211}"/>
    <dgm:cxn modelId="{7137F8EC-90EF-4F96-A781-69D02A6CA966}" type="presOf" srcId="{7DFE29AC-B147-4AE0-956F-8AE903522F76}" destId="{4D468E5F-8C60-43C2-B7C1-96BDF0E4CD47}" srcOrd="0" destOrd="0" presId="urn:microsoft.com/office/officeart/2005/8/layout/hierarchy1"/>
    <dgm:cxn modelId="{2BEBCC14-DBC5-406D-A2D9-991A74DB335E}" type="presParOf" srcId="{8F2784E8-3002-4F8D-A953-FA0295C1B38C}" destId="{4BDDD20F-4E26-4174-86E3-9C2F1553DB59}" srcOrd="0" destOrd="0" presId="urn:microsoft.com/office/officeart/2005/8/layout/hierarchy1"/>
    <dgm:cxn modelId="{880C87F9-133A-4782-8BCA-128617D32DFA}" type="presParOf" srcId="{4BDDD20F-4E26-4174-86E3-9C2F1553DB59}" destId="{23F62BB6-FED4-47D2-8271-FE1CA87D876E}" srcOrd="0" destOrd="0" presId="urn:microsoft.com/office/officeart/2005/8/layout/hierarchy1"/>
    <dgm:cxn modelId="{8D653994-9CE4-49AE-A81F-BA3E9D79D6DF}" type="presParOf" srcId="{23F62BB6-FED4-47D2-8271-FE1CA87D876E}" destId="{F9179E12-D10A-47FD-A745-10E2A24054D6}" srcOrd="0" destOrd="0" presId="urn:microsoft.com/office/officeart/2005/8/layout/hierarchy1"/>
    <dgm:cxn modelId="{B6D0D3CA-CE88-4A4E-BB08-F09A6581852F}" type="presParOf" srcId="{23F62BB6-FED4-47D2-8271-FE1CA87D876E}" destId="{4D468E5F-8C60-43C2-B7C1-96BDF0E4CD47}" srcOrd="1" destOrd="0" presId="urn:microsoft.com/office/officeart/2005/8/layout/hierarchy1"/>
    <dgm:cxn modelId="{6F0D834F-6483-4F6B-B749-B552FBB53894}" type="presParOf" srcId="{4BDDD20F-4E26-4174-86E3-9C2F1553DB59}" destId="{7A1FAF78-EAC3-456B-AE01-7C7B2EB0EBE2}" srcOrd="1" destOrd="0" presId="urn:microsoft.com/office/officeart/2005/8/layout/hierarchy1"/>
    <dgm:cxn modelId="{1423A8F5-E69C-4F88-8584-C0F5C6391600}" type="presParOf" srcId="{8F2784E8-3002-4F8D-A953-FA0295C1B38C}" destId="{7843B918-24E9-49A3-818B-7DAC4B8B2D62}" srcOrd="1" destOrd="0" presId="urn:microsoft.com/office/officeart/2005/8/layout/hierarchy1"/>
    <dgm:cxn modelId="{90D9DDE5-FC55-40AE-9B0F-ED0B38DFF17D}" type="presParOf" srcId="{7843B918-24E9-49A3-818B-7DAC4B8B2D62}" destId="{47B4BFD7-ABAE-4A90-B6A1-64B481573C86}" srcOrd="0" destOrd="0" presId="urn:microsoft.com/office/officeart/2005/8/layout/hierarchy1"/>
    <dgm:cxn modelId="{938AB327-3C6E-4865-8F3E-A084F16BD6DB}" type="presParOf" srcId="{47B4BFD7-ABAE-4A90-B6A1-64B481573C86}" destId="{8D9FD5BD-DD5C-412B-B40F-1835A40C8E07}" srcOrd="0" destOrd="0" presId="urn:microsoft.com/office/officeart/2005/8/layout/hierarchy1"/>
    <dgm:cxn modelId="{6F4F72C8-DD25-419F-8670-153444D32C2F}" type="presParOf" srcId="{47B4BFD7-ABAE-4A90-B6A1-64B481573C86}" destId="{2843FD3E-B2FE-4867-91E3-3EBE72350514}" srcOrd="1" destOrd="0" presId="urn:microsoft.com/office/officeart/2005/8/layout/hierarchy1"/>
    <dgm:cxn modelId="{E24EDFFF-7BBF-4A5D-94AC-AFE24BB8CE59}" type="presParOf" srcId="{7843B918-24E9-49A3-818B-7DAC4B8B2D62}" destId="{E520C0C4-5C10-46FD-877B-9332B1E1B5E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02698C-30D7-48E0-9D41-CBDDB685DA49}">
      <dsp:nvSpPr>
        <dsp:cNvPr id="0" name=""/>
        <dsp:cNvSpPr/>
      </dsp:nvSpPr>
      <dsp:spPr>
        <a:xfrm>
          <a:off x="3" y="0"/>
          <a:ext cx="12501275" cy="632261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28285-40B9-40B2-819A-23A1F6C11D6F}">
      <dsp:nvSpPr>
        <dsp:cNvPr id="0" name=""/>
        <dsp:cNvSpPr/>
      </dsp:nvSpPr>
      <dsp:spPr>
        <a:xfrm>
          <a:off x="4968" y="1217837"/>
          <a:ext cx="2243793" cy="38869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Maize is a cereal grain originating from the America’s, which grown worldwide now, it consist of “white maize and Yellow maize” ( Ikedike, 2022).</a:t>
          </a:r>
          <a:endParaRPr lang="en-US" sz="1800" kern="1200" dirty="0"/>
        </a:p>
      </dsp:txBody>
      <dsp:txXfrm>
        <a:off x="114501" y="1327370"/>
        <a:ext cx="2024727" cy="3667877"/>
      </dsp:txXfrm>
    </dsp:sp>
    <dsp:sp modelId="{21526B0B-7F3A-4452-80A4-4D125BA41891}">
      <dsp:nvSpPr>
        <dsp:cNvPr id="0" name=""/>
        <dsp:cNvSpPr/>
      </dsp:nvSpPr>
      <dsp:spPr>
        <a:xfrm>
          <a:off x="2354973" y="1197997"/>
          <a:ext cx="2406085" cy="39266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Detection is a process of finding out about items features.</a:t>
          </a:r>
        </a:p>
        <a:p>
          <a:pPr marL="0" lvl="0" indent="0" algn="ctr" defTabSz="800100">
            <a:lnSpc>
              <a:spcPct val="90000"/>
            </a:lnSpc>
            <a:spcBef>
              <a:spcPct val="0"/>
            </a:spcBef>
            <a:spcAft>
              <a:spcPct val="35000"/>
            </a:spcAft>
            <a:buNone/>
          </a:pPr>
          <a:r>
            <a:rPr lang="en-US" sz="1800" kern="1200" dirty="0"/>
            <a:t>Classification is a process of putting items into different bins.</a:t>
          </a:r>
        </a:p>
      </dsp:txBody>
      <dsp:txXfrm>
        <a:off x="2472428" y="1315452"/>
        <a:ext cx="2171175" cy="3691714"/>
      </dsp:txXfrm>
    </dsp:sp>
    <dsp:sp modelId="{2F122DB8-F526-4ED0-95E9-69464AA66511}">
      <dsp:nvSpPr>
        <dsp:cNvPr id="0" name=""/>
        <dsp:cNvSpPr/>
      </dsp:nvSpPr>
      <dsp:spPr>
        <a:xfrm>
          <a:off x="4867271" y="1268823"/>
          <a:ext cx="2604043" cy="37849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CNN also called ConvNet is a specialized deep learning algorithm primarily used for tasks like image recognition, object detection, and classification.</a:t>
          </a:r>
        </a:p>
      </dsp:txBody>
      <dsp:txXfrm>
        <a:off x="4994390" y="1395942"/>
        <a:ext cx="2349805" cy="3530734"/>
      </dsp:txXfrm>
    </dsp:sp>
    <dsp:sp modelId="{AE7A28CF-3663-4AA6-9687-74CBE7692320}">
      <dsp:nvSpPr>
        <dsp:cNvPr id="0" name=""/>
        <dsp:cNvSpPr/>
      </dsp:nvSpPr>
      <dsp:spPr>
        <a:xfrm>
          <a:off x="7574314" y="1332643"/>
          <a:ext cx="2507560" cy="37721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Diseases that occur at the early stage of maize crop pose a significant threat to production of maize, leading to reduced yields, subsistence and commercial losses, finally economical losses. </a:t>
          </a:r>
          <a:endParaRPr lang="en-US" sz="1700" kern="1200" dirty="0"/>
        </a:p>
      </dsp:txBody>
      <dsp:txXfrm>
        <a:off x="7696723" y="1455052"/>
        <a:ext cx="2262742" cy="3527332"/>
      </dsp:txXfrm>
    </dsp:sp>
    <dsp:sp modelId="{B03C7A30-1EDE-408D-9605-43AFA75A8D71}">
      <dsp:nvSpPr>
        <dsp:cNvPr id="0" name=""/>
        <dsp:cNvSpPr/>
      </dsp:nvSpPr>
      <dsp:spPr>
        <a:xfrm>
          <a:off x="10196267" y="1245480"/>
          <a:ext cx="2305014" cy="396898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CNN is proposed as a solution for the detection and classification of maize diseases in this research. </a:t>
          </a:r>
          <a:endParaRPr lang="en-US" sz="2000" kern="1200" dirty="0"/>
        </a:p>
      </dsp:txBody>
      <dsp:txXfrm>
        <a:off x="10308789" y="1358002"/>
        <a:ext cx="2079970" cy="3743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79E12-D10A-47FD-A745-10E2A24054D6}">
      <dsp:nvSpPr>
        <dsp:cNvPr id="0" name=""/>
        <dsp:cNvSpPr/>
      </dsp:nvSpPr>
      <dsp:spPr>
        <a:xfrm>
          <a:off x="-64361" y="367154"/>
          <a:ext cx="3641342" cy="35701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468E5F-8C60-43C2-B7C1-96BDF0E4CD47}">
      <dsp:nvSpPr>
        <dsp:cNvPr id="0" name=""/>
        <dsp:cNvSpPr/>
      </dsp:nvSpPr>
      <dsp:spPr>
        <a:xfrm>
          <a:off x="340232" y="751518"/>
          <a:ext cx="3641342" cy="35701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 Arial"/>
            </a:rPr>
            <a:t>Time consumption spent in using the traditional method of maize disease detection  </a:t>
          </a:r>
        </a:p>
      </dsp:txBody>
      <dsp:txXfrm>
        <a:off x="444798" y="856084"/>
        <a:ext cx="3432210" cy="3361009"/>
      </dsp:txXfrm>
    </dsp:sp>
    <dsp:sp modelId="{8D9FD5BD-DD5C-412B-B40F-1835A40C8E07}">
      <dsp:nvSpPr>
        <dsp:cNvPr id="0" name=""/>
        <dsp:cNvSpPr/>
      </dsp:nvSpPr>
      <dsp:spPr>
        <a:xfrm>
          <a:off x="4451567" y="373374"/>
          <a:ext cx="3641342" cy="33600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43FD3E-B2FE-4867-91E3-3EBE72350514}">
      <dsp:nvSpPr>
        <dsp:cNvPr id="0" name=""/>
        <dsp:cNvSpPr/>
      </dsp:nvSpPr>
      <dsp:spPr>
        <a:xfrm>
          <a:off x="4856160" y="757738"/>
          <a:ext cx="3641342" cy="33600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 Arial"/>
            </a:rPr>
            <a:t>The Insufficient use of diverse maize leaves with different diseases. </a:t>
          </a:r>
        </a:p>
        <a:p>
          <a:pPr marL="0" lvl="0" indent="0" algn="ctr" defTabSz="844550">
            <a:lnSpc>
              <a:spcPct val="90000"/>
            </a:lnSpc>
            <a:spcBef>
              <a:spcPct val="0"/>
            </a:spcBef>
            <a:spcAft>
              <a:spcPct val="35000"/>
            </a:spcAft>
            <a:buNone/>
          </a:pPr>
          <a:r>
            <a:rPr lang="en-US" sz="1900" b="0" i="0" kern="1200" dirty="0">
              <a:latin typeface=" Arial"/>
            </a:rPr>
            <a:t>These results also support the fact that deep learning models require huge number of training samples</a:t>
          </a:r>
          <a:br>
            <a:rPr lang="en-US" sz="1900" kern="1200" dirty="0">
              <a:latin typeface=" Arial"/>
            </a:rPr>
          </a:br>
          <a:r>
            <a:rPr lang="en-US" sz="1900" b="0" i="0" kern="1200" dirty="0">
              <a:latin typeface=" Arial"/>
            </a:rPr>
            <a:t>to learn and capture the inherent features from the data under </a:t>
          </a:r>
          <a:r>
            <a:rPr lang="en-US" sz="1900" b="0" i="0" kern="1200" dirty="0"/>
            <a:t>study(</a:t>
          </a:r>
          <a:r>
            <a:rPr lang="en-US" sz="1900" kern="1200" dirty="0"/>
            <a:t>Haque</a:t>
          </a:r>
          <a:r>
            <a:rPr lang="en-US" sz="1900" b="0" i="0" u="none" strike="noStrike" kern="1200" cap="none" dirty="0">
              <a:solidFill>
                <a:schemeClr val="tx1"/>
              </a:solidFill>
              <a:effectLst/>
              <a:latin typeface=" Arial"/>
              <a:ea typeface="+mn-ea"/>
              <a:cs typeface="Arial" panose="020B0604020202020204" pitchFamily="34" charset="0"/>
              <a:sym typeface="Arial"/>
            </a:rPr>
            <a:t>, 2019</a:t>
          </a:r>
          <a:r>
            <a:rPr lang="en-US" sz="1900" b="0" i="0" u="none" strike="noStrike" kern="1200" cap="none" dirty="0">
              <a:solidFill>
                <a:schemeClr val="tx1"/>
              </a:solidFill>
              <a:effectLst/>
              <a:latin typeface="Arial" panose="020B0604020202020204" pitchFamily="34" charset="0"/>
              <a:ea typeface="+mn-ea"/>
              <a:cs typeface="Arial" panose="020B0604020202020204" pitchFamily="34" charset="0"/>
              <a:sym typeface="Arial"/>
            </a:rPr>
            <a:t>).  </a:t>
          </a:r>
          <a:endParaRPr lang="en-US" sz="1900" kern="1200" dirty="0"/>
        </a:p>
        <a:p>
          <a:pPr marL="0" lvl="0" indent="0" algn="ctr" defTabSz="844550">
            <a:lnSpc>
              <a:spcPct val="90000"/>
            </a:lnSpc>
            <a:spcBef>
              <a:spcPct val="0"/>
            </a:spcBef>
            <a:spcAft>
              <a:spcPct val="35000"/>
            </a:spcAft>
            <a:buNone/>
          </a:pPr>
          <a:endParaRPr lang="en-US" sz="1900" kern="1200" dirty="0"/>
        </a:p>
      </dsp:txBody>
      <dsp:txXfrm>
        <a:off x="4954573" y="856151"/>
        <a:ext cx="3444516" cy="316324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BD6B98-1CC7-4B22-A121-A1BB39778B14}" type="datetimeFigureOut">
              <a:rPr lang="en-NG" smtClean="0"/>
              <a:t>11/03/2025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165D17-91CA-495C-85A2-4368C4341DE4}" type="slidenum">
              <a:rPr lang="en-NG" smtClean="0"/>
              <a:t>‹#›</a:t>
            </a:fld>
            <a:endParaRPr lang="en-NG"/>
          </a:p>
        </p:txBody>
      </p:sp>
    </p:spTree>
    <p:extLst>
      <p:ext uri="{BB962C8B-B14F-4D97-AF65-F5344CB8AC3E}">
        <p14:creationId xmlns:p14="http://schemas.microsoft.com/office/powerpoint/2010/main" val="2959827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0BDD-B2E1-474F-B11A-A53EB74039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2E2299C0-96EE-4CC0-B50E-782FC0D22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E9BEBEA4-FBEF-4C66-8E53-A4063565ACAC}"/>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56482AAD-4A91-4386-B7AF-F74976EA2449}"/>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8D7CBDA-C87A-4463-8ADA-E08176B27799}"/>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1192328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3451-17C2-45F1-A1CC-DC4F3421FA28}"/>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BB1FCED2-F16F-48D3-98A4-639537652F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A0480E9B-47E5-4477-A66F-2CDF96C4D688}"/>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22905F8D-3747-4C42-849E-3937001C4E5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3E70FC4-4C30-436B-9BDC-98CDB8A1843C}"/>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98666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90EAC-326B-4FB0-8E3B-5D0630CE2C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260BA1F1-3DC5-4D34-AF69-158C81A06A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44EAC0-0FC5-43FC-B046-C10ED9AD3FFF}"/>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EF3C851D-0041-4982-94C7-627D17FA91FA}"/>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24856C5-7A64-43E1-A2C2-9DCC8EDFCC2A}"/>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205387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BB757-4913-4F7C-A008-A215C81D02F7}"/>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FB2713F0-A573-4213-89B6-7CFF94661C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83198CB4-1508-4285-A11A-17BE39A123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B29D5050-6E96-4CF4-BEA8-55FF047FA855}"/>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6" name="Footer Placeholder 5">
            <a:extLst>
              <a:ext uri="{FF2B5EF4-FFF2-40B4-BE49-F238E27FC236}">
                <a16:creationId xmlns:a16="http://schemas.microsoft.com/office/drawing/2014/main" id="{84B7DEFE-CD35-4BDC-B8F7-7FD583B2AD5E}"/>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E20CEB41-835B-4C56-B0A7-41A9D53FD4AF}"/>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796258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1ACF5-92E0-4003-BBED-9C4CBA57BAEE}"/>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7C79803D-24DA-4B08-9F52-22E9DA782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97A1A6-68DA-4326-A999-61921E4F80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DD67888F-5BCA-4A73-83F5-83E090DBE1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86CFFD-15BF-4196-AEE0-7A051395B3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128A013C-48F3-4A88-8F73-9785A73D1B17}"/>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8" name="Footer Placeholder 7">
            <a:extLst>
              <a:ext uri="{FF2B5EF4-FFF2-40B4-BE49-F238E27FC236}">
                <a16:creationId xmlns:a16="http://schemas.microsoft.com/office/drawing/2014/main" id="{D7FE3036-16F7-4689-81C2-9E16EA0AA51A}"/>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0E50BA85-B398-4C82-9E8D-978B285EC70F}"/>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702118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34811-45C5-40E8-A283-040EA1461C9D}"/>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50EE97F6-A5B7-4E52-A5E6-B42320A06B4C}"/>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4" name="Footer Placeholder 3">
            <a:extLst>
              <a:ext uri="{FF2B5EF4-FFF2-40B4-BE49-F238E27FC236}">
                <a16:creationId xmlns:a16="http://schemas.microsoft.com/office/drawing/2014/main" id="{8B6A3D6B-440D-4235-B7AD-898B793C2291}"/>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9483BF8A-D3A5-48AF-95F6-9099008ED6E6}"/>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4015841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BAE901-52F3-415D-A92A-896C95449D38}"/>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3" name="Footer Placeholder 2">
            <a:extLst>
              <a:ext uri="{FF2B5EF4-FFF2-40B4-BE49-F238E27FC236}">
                <a16:creationId xmlns:a16="http://schemas.microsoft.com/office/drawing/2014/main" id="{6D1D31CA-DF18-48B3-8729-2CF556325CB8}"/>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2B1034EA-5095-4A01-B72C-6F26A555CA0D}"/>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329264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7B75-9B53-4E0C-A6DB-B09F991D1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3555218E-D95E-4EFB-9D88-BED60C4FDA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51132204-BB54-444B-80F6-1D452052A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533A2-4D4D-441A-B774-39D7D53C5B2E}"/>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6" name="Footer Placeholder 5">
            <a:extLst>
              <a:ext uri="{FF2B5EF4-FFF2-40B4-BE49-F238E27FC236}">
                <a16:creationId xmlns:a16="http://schemas.microsoft.com/office/drawing/2014/main" id="{14EF064B-5CB1-4E9E-BA61-207EA1656DF4}"/>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0EB96BB8-1391-4786-972A-460ACADBFFD6}"/>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2016092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F203B-F46F-4F3A-A260-28B6F2593C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A27340B3-070D-469E-A5A9-48AD9C6DFE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A589BEBB-8BE8-4E41-8FC7-58250A1DC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5311E8-734A-4DAC-914B-3F67A79E3A47}"/>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6" name="Footer Placeholder 5">
            <a:extLst>
              <a:ext uri="{FF2B5EF4-FFF2-40B4-BE49-F238E27FC236}">
                <a16:creationId xmlns:a16="http://schemas.microsoft.com/office/drawing/2014/main" id="{7DF2C2D1-4D25-4A7A-BC38-D2D654F356EE}"/>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D8222BC4-95CB-4EEA-85CF-AC63A8354AE7}"/>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3669514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2775F-EEF2-45E6-B247-B5F1BA4047DA}"/>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A4507AEC-5637-4872-8FDF-56B36A0FD5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ABF5C61C-42CF-42D9-A6D7-24EA005AFCB2}"/>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46CD9BF1-46E0-4C41-AAC0-F25403FD5B43}"/>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9B8BF14F-243A-443D-8512-7911E8D9E3D6}"/>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3221920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BD2391-DA63-4EAF-9A49-E80403776E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FF90E535-C0B7-4721-91C1-4A3ECA3B8F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60A45EC-113D-425B-9A94-05E97524310A}"/>
              </a:ext>
            </a:extLst>
          </p:cNvPr>
          <p:cNvSpPr>
            <a:spLocks noGrp="1"/>
          </p:cNvSpPr>
          <p:nvPr>
            <p:ph type="dt" sz="half" idx="10"/>
          </p:nvPr>
        </p:nvSpPr>
        <p:spPr/>
        <p:txBody>
          <a:body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50096C46-8F84-4671-A97C-705C143EBD2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33CDB593-479A-4FFC-AF6C-340608D75E9D}"/>
              </a:ext>
            </a:extLst>
          </p:cNvPr>
          <p:cNvSpPr>
            <a:spLocks noGrp="1"/>
          </p:cNvSpPr>
          <p:nvPr>
            <p:ph type="sldNum" sz="quarter" idx="12"/>
          </p:nvPr>
        </p:nvSpPr>
        <p:spPr/>
        <p:txBody>
          <a:bodyPr/>
          <a:lstStyle/>
          <a:p>
            <a:fld id="{FAE92662-EE40-4917-92D8-922083FF13E8}" type="slidenum">
              <a:rPr lang="en-NG" smtClean="0"/>
              <a:t>‹#›</a:t>
            </a:fld>
            <a:endParaRPr lang="en-NG"/>
          </a:p>
        </p:txBody>
      </p:sp>
    </p:spTree>
    <p:extLst>
      <p:ext uri="{BB962C8B-B14F-4D97-AF65-F5344CB8AC3E}">
        <p14:creationId xmlns:p14="http://schemas.microsoft.com/office/powerpoint/2010/main" val="3007325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57926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05DA55-2A56-43B3-ADAE-538860A96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EF6C01B4-55A2-49D4-928E-4F961CDC0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C4B930C2-A89C-4616-880D-83415B16BE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EB5CBE-90BD-4DFC-B574-1FE2220244E8}" type="datetimeFigureOut">
              <a:rPr lang="en-NG" smtClean="0"/>
              <a:t>11/03/2025</a:t>
            </a:fld>
            <a:endParaRPr lang="en-NG"/>
          </a:p>
        </p:txBody>
      </p:sp>
      <p:sp>
        <p:nvSpPr>
          <p:cNvPr id="5" name="Footer Placeholder 4">
            <a:extLst>
              <a:ext uri="{FF2B5EF4-FFF2-40B4-BE49-F238E27FC236}">
                <a16:creationId xmlns:a16="http://schemas.microsoft.com/office/drawing/2014/main" id="{29FB79A6-977B-457F-AF44-93239FF170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50824C45-20BB-48A6-8B40-ED9707E8F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92662-EE40-4917-92D8-922083FF13E8}" type="slidenum">
              <a:rPr lang="en-NG" smtClean="0"/>
              <a:t>‹#›</a:t>
            </a:fld>
            <a:endParaRPr lang="en-NG"/>
          </a:p>
        </p:txBody>
      </p:sp>
    </p:spTree>
    <p:extLst>
      <p:ext uri="{BB962C8B-B14F-4D97-AF65-F5344CB8AC3E}">
        <p14:creationId xmlns:p14="http://schemas.microsoft.com/office/powerpoint/2010/main" val="1028286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2.xml"/><Relationship Id="rId7" Type="http://schemas.openxmlformats.org/officeDocument/2006/relationships/image" Target="../media/image1.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9.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5.jpg"/><Relationship Id="rId2" Type="http://schemas.openxmlformats.org/officeDocument/2006/relationships/image" Target="../media/image11.jpg"/><Relationship Id="rId1" Type="http://schemas.openxmlformats.org/officeDocument/2006/relationships/slideLayout" Target="../slideLayouts/slideLayout9.xml"/><Relationship Id="rId6" Type="http://schemas.openxmlformats.org/officeDocument/2006/relationships/image" Target="../media/image14.jpg"/><Relationship Id="rId5" Type="http://schemas.openxmlformats.org/officeDocument/2006/relationships/image" Target="../media/image1.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07/978-981-15-2414-1_66" TargetMode="External"/><Relationship Id="rId2" Type="http://schemas.openxmlformats.org/officeDocument/2006/relationships/hyperlink" Target="https://www.sciencedirect.com/science/article/pii/S0168169922006494" TargetMode="External"/><Relationship Id="rId1" Type="http://schemas.openxmlformats.org/officeDocument/2006/relationships/slideLayout" Target="../slideLayouts/slideLayout9.xml"/><Relationship Id="rId4" Type="http://schemas.openxmlformats.org/officeDocument/2006/relationships/hyperlink" Target="http://www.mdpi.com/journal/agriengineering" TargetMode="Externa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ctrTitle"/>
          </p:nvPr>
        </p:nvSpPr>
        <p:spPr>
          <a:xfrm>
            <a:off x="815010" y="309200"/>
            <a:ext cx="10372413" cy="2738979"/>
          </a:xfrm>
          <a:prstGeom prst="rect">
            <a:avLst/>
          </a:prstGeom>
        </p:spPr>
        <p:txBody>
          <a:bodyPr spcFirstLastPara="1" vert="horz" wrap="square" lIns="121900" tIns="121900" rIns="121900" bIns="121900" rtlCol="0" anchor="b" anchorCtr="0">
            <a:spAutoFit/>
          </a:bodyPr>
          <a:lstStyle/>
          <a:p>
            <a:pPr>
              <a:lnSpc>
                <a:spcPct val="150000"/>
              </a:lnSpc>
              <a:buSzPts val="1100"/>
            </a:pPr>
            <a:r>
              <a:rPr lang="en-GB" sz="2133" b="1" dirty="0">
                <a:latin typeface="Arial" panose="020B0604020202020204" pitchFamily="34" charset="0"/>
                <a:cs typeface="Arial" panose="020B0604020202020204" pitchFamily="34" charset="0"/>
              </a:rPr>
              <a:t>AN ORAL PRESENTATION </a:t>
            </a:r>
            <a:br>
              <a:rPr lang="en-GB" sz="2133" b="1" dirty="0">
                <a:latin typeface="Arial" panose="020B0604020202020204" pitchFamily="34" charset="0"/>
                <a:cs typeface="Arial" panose="020B0604020202020204" pitchFamily="34" charset="0"/>
              </a:rPr>
            </a:br>
            <a:r>
              <a:rPr lang="en-GB" sz="2133" b="1" dirty="0">
                <a:latin typeface="Arial" panose="020B0604020202020204" pitchFamily="34" charset="0"/>
                <a:cs typeface="Arial" panose="020B0604020202020204" pitchFamily="34" charset="0"/>
              </a:rPr>
              <a:t>ON</a:t>
            </a:r>
            <a:br>
              <a:rPr lang="en-GB" sz="2133" b="1" dirty="0">
                <a:latin typeface="Arial" panose="020B0604020202020204" pitchFamily="34" charset="0"/>
                <a:cs typeface="Arial" panose="020B0604020202020204" pitchFamily="34" charset="0"/>
              </a:rPr>
            </a:br>
            <a:r>
              <a:rPr lang="en-US" sz="2133"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Maize Disease Detection and Classification Based on Deep Neural Network for substantiating the crop yield</a:t>
            </a:r>
            <a:br>
              <a:rPr lang="en-US" sz="2133" b="1" dirty="0">
                <a:latin typeface="Arial" panose="020B0604020202020204" pitchFamily="34" charset="0"/>
                <a:cs typeface="Arial" panose="020B0604020202020204" pitchFamily="34" charset="0"/>
              </a:rPr>
            </a:br>
            <a:endParaRPr sz="2133" b="1" dirty="0">
              <a:latin typeface="Arial" panose="020B0604020202020204" pitchFamily="34" charset="0"/>
              <a:cs typeface="Arial" panose="020B0604020202020204" pitchFamily="34" charset="0"/>
            </a:endParaRPr>
          </a:p>
        </p:txBody>
      </p:sp>
      <p:sp>
        <p:nvSpPr>
          <p:cNvPr id="101" name="Google Shape;101;p18"/>
          <p:cNvSpPr txBox="1">
            <a:spLocks noGrp="1"/>
          </p:cNvSpPr>
          <p:nvPr>
            <p:ph type="subTitle" idx="1"/>
          </p:nvPr>
        </p:nvSpPr>
        <p:spPr>
          <a:xfrm>
            <a:off x="306794" y="3025588"/>
            <a:ext cx="10880629" cy="3160059"/>
          </a:xfrm>
          <a:prstGeom prst="rect">
            <a:avLst/>
          </a:prstGeom>
        </p:spPr>
        <p:txBody>
          <a:bodyPr spcFirstLastPara="1" vert="horz" wrap="square" lIns="121900" tIns="121900" rIns="121900" bIns="121900" rtlCol="0" anchor="t" anchorCtr="0">
            <a:noAutofit/>
          </a:bodyPr>
          <a:lstStyle/>
          <a:p>
            <a:pPr>
              <a:spcBef>
                <a:spcPts val="0"/>
              </a:spcBef>
            </a:pPr>
            <a:r>
              <a:rPr lang="en-GB" sz="2000" b="1" dirty="0">
                <a:solidFill>
                  <a:schemeClr val="dk1"/>
                </a:solidFill>
                <a:latin typeface="Arial" panose="020B0604020202020204" pitchFamily="34" charset="0"/>
                <a:cs typeface="Arial" panose="020B0604020202020204" pitchFamily="34" charset="0"/>
              </a:rPr>
              <a:t>BY</a:t>
            </a:r>
            <a:endParaRPr lang="en-US" sz="2000" b="1" dirty="0">
              <a:solidFill>
                <a:schemeClr val="dk1"/>
              </a:solidFill>
              <a:latin typeface="Arial" panose="020B0604020202020204" pitchFamily="34" charset="0"/>
              <a:cs typeface="Arial" panose="020B0604020202020204" pitchFamily="34" charset="0"/>
            </a:endParaRPr>
          </a:p>
          <a:p>
            <a:r>
              <a:rPr lang="en-US" sz="2000" b="1" dirty="0"/>
              <a:t>ADEBOWALE ANU VICTOR</a:t>
            </a:r>
          </a:p>
          <a:p>
            <a:r>
              <a:rPr lang="en-US" sz="2000" b="1" dirty="0"/>
              <a:t>SEN/19/0689</a:t>
            </a:r>
          </a:p>
          <a:p>
            <a:pPr>
              <a:spcBef>
                <a:spcPts val="0"/>
              </a:spcBef>
            </a:pPr>
            <a:endParaRPr lang="en-GB" sz="2000" b="1" dirty="0">
              <a:solidFill>
                <a:schemeClr val="dk1"/>
              </a:solidFill>
              <a:latin typeface="Arial" panose="020B0604020202020204" pitchFamily="34" charset="0"/>
              <a:cs typeface="Arial" panose="020B0604020202020204" pitchFamily="34" charset="0"/>
            </a:endParaRPr>
          </a:p>
          <a:p>
            <a:pPr>
              <a:lnSpc>
                <a:spcPct val="150000"/>
              </a:lnSpc>
              <a:buClr>
                <a:srgbClr val="0C0C0C"/>
              </a:buClr>
              <a:buSzPts val="2000"/>
            </a:pPr>
            <a:r>
              <a:rPr lang="en-US" sz="2000" b="1" dirty="0"/>
              <a:t>DEPARTMENT OF SOFTWARE ENGINEERING,</a:t>
            </a:r>
            <a:br>
              <a:rPr lang="en-US" sz="2000" b="1" dirty="0"/>
            </a:br>
            <a:r>
              <a:rPr lang="en-US" sz="2000" b="1" dirty="0"/>
              <a:t>SCHOOL OF COMPUTING.</a:t>
            </a:r>
          </a:p>
          <a:p>
            <a:pPr>
              <a:lnSpc>
                <a:spcPct val="150000"/>
              </a:lnSpc>
              <a:buClr>
                <a:srgbClr val="0C0C0C"/>
              </a:buClr>
              <a:buSzPts val="2000"/>
            </a:pPr>
            <a:r>
              <a:rPr lang="en-US" sz="2000" b="1" dirty="0"/>
              <a:t>SUPERVISED BY: PROF. K. G. AKINTOLA</a:t>
            </a:r>
            <a:br>
              <a:rPr lang="en-US" sz="2133" b="1" dirty="0"/>
            </a:br>
            <a:br>
              <a:rPr lang="en-US" sz="2133" b="1" dirty="0">
                <a:latin typeface="Arial" panose="020B0604020202020204" pitchFamily="34" charset="0"/>
                <a:cs typeface="Arial" panose="020B0604020202020204" pitchFamily="34" charset="0"/>
              </a:rPr>
            </a:br>
            <a:endParaRPr sz="2133" b="1" dirty="0">
              <a:solidFill>
                <a:schemeClr val="dk1"/>
              </a:solidFill>
              <a:latin typeface="Arial" panose="020B0604020202020204" pitchFamily="34" charset="0"/>
              <a:cs typeface="Arial" panose="020B0604020202020204" pitchFamily="34" charset="0"/>
            </a:endParaRPr>
          </a:p>
        </p:txBody>
      </p:sp>
      <p:sp>
        <p:nvSpPr>
          <p:cNvPr id="102" name="Google Shape;102;p18"/>
          <p:cNvSpPr/>
          <p:nvPr/>
        </p:nvSpPr>
        <p:spPr>
          <a:xfrm>
            <a:off x="0" y="0"/>
            <a:ext cx="12192000" cy="309200"/>
          </a:xfrm>
          <a:prstGeom prst="rect">
            <a:avLst/>
          </a:prstGeom>
          <a:solidFill>
            <a:srgbClr val="191616"/>
          </a:solidFill>
          <a:ln>
            <a:noFill/>
          </a:ln>
        </p:spPr>
        <p:txBody>
          <a:bodyPr spcFirstLastPara="1" wrap="square" lIns="121900" tIns="121900" rIns="121900" bIns="121900" anchor="ctr" anchorCtr="0">
            <a:noAutofit/>
          </a:bodyPr>
          <a:lstStyle/>
          <a:p>
            <a:pPr algn="ctr"/>
            <a:endParaRPr sz="2400"/>
          </a:p>
        </p:txBody>
      </p:sp>
      <p:sp>
        <p:nvSpPr>
          <p:cNvPr id="103" name="Google Shape;103;p18"/>
          <p:cNvSpPr/>
          <p:nvPr/>
        </p:nvSpPr>
        <p:spPr>
          <a:xfrm>
            <a:off x="10926000" y="0"/>
            <a:ext cx="1266000" cy="309200"/>
          </a:xfrm>
          <a:prstGeom prst="rect">
            <a:avLst/>
          </a:prstGeom>
          <a:solidFill>
            <a:schemeClr val="accent5"/>
          </a:solidFill>
          <a:ln>
            <a:noFill/>
          </a:ln>
        </p:spPr>
        <p:txBody>
          <a:bodyPr spcFirstLastPara="1" wrap="square" lIns="121900" tIns="121900" rIns="121900" bIns="121900" anchor="ctr" anchorCtr="0">
            <a:noAutofit/>
          </a:bodyPr>
          <a:lstStyle/>
          <a:p>
            <a:pPr algn="ctr"/>
            <a:endParaRPr sz="2400"/>
          </a:p>
        </p:txBody>
      </p:sp>
      <p:sp>
        <p:nvSpPr>
          <p:cNvPr id="104" name="Google Shape;104;p18"/>
          <p:cNvSpPr/>
          <p:nvPr/>
        </p:nvSpPr>
        <p:spPr>
          <a:xfrm>
            <a:off x="10306933" y="0"/>
            <a:ext cx="619200" cy="309200"/>
          </a:xfrm>
          <a:prstGeom prst="rect">
            <a:avLst/>
          </a:prstGeom>
          <a:solidFill>
            <a:srgbClr val="037682"/>
          </a:solidFill>
          <a:ln>
            <a:noFill/>
          </a:ln>
        </p:spPr>
        <p:txBody>
          <a:bodyPr spcFirstLastPara="1" wrap="square" lIns="121900" tIns="121900" rIns="121900" bIns="121900" anchor="ctr" anchorCtr="0">
            <a:noAutofit/>
          </a:bodyPr>
          <a:lstStyle/>
          <a:p>
            <a:pPr algn="ctr"/>
            <a:endParaRPr sz="2400"/>
          </a:p>
        </p:txBody>
      </p:sp>
      <p:sp>
        <p:nvSpPr>
          <p:cNvPr id="105" name="Google Shape;105;p18"/>
          <p:cNvSpPr/>
          <p:nvPr/>
        </p:nvSpPr>
        <p:spPr>
          <a:xfrm>
            <a:off x="0" y="6548800"/>
            <a:ext cx="12192000" cy="309200"/>
          </a:xfrm>
          <a:prstGeom prst="rect">
            <a:avLst/>
          </a:prstGeom>
          <a:solidFill>
            <a:srgbClr val="191616"/>
          </a:solidFill>
          <a:ln>
            <a:noFill/>
          </a:ln>
        </p:spPr>
        <p:txBody>
          <a:bodyPr spcFirstLastPara="1" wrap="square" lIns="121900" tIns="121900" rIns="121900" bIns="121900" anchor="ctr" anchorCtr="0">
            <a:noAutofit/>
          </a:bodyPr>
          <a:lstStyle/>
          <a:p>
            <a:pPr algn="ctr"/>
            <a:endParaRPr sz="2400"/>
          </a:p>
        </p:txBody>
      </p:sp>
      <p:sp>
        <p:nvSpPr>
          <p:cNvPr id="106" name="Google Shape;106;p18"/>
          <p:cNvSpPr/>
          <p:nvPr/>
        </p:nvSpPr>
        <p:spPr>
          <a:xfrm>
            <a:off x="0" y="6548800"/>
            <a:ext cx="1266000" cy="309200"/>
          </a:xfrm>
          <a:prstGeom prst="rect">
            <a:avLst/>
          </a:prstGeom>
          <a:solidFill>
            <a:schemeClr val="accent5"/>
          </a:solidFill>
          <a:ln>
            <a:noFill/>
          </a:ln>
        </p:spPr>
        <p:txBody>
          <a:bodyPr spcFirstLastPara="1" wrap="square" lIns="121900" tIns="121900" rIns="121900" bIns="121900" anchor="ctr" anchorCtr="0">
            <a:noAutofit/>
          </a:bodyPr>
          <a:lstStyle/>
          <a:p>
            <a:pPr algn="ctr"/>
            <a:endParaRPr sz="2400"/>
          </a:p>
        </p:txBody>
      </p:sp>
      <p:sp>
        <p:nvSpPr>
          <p:cNvPr id="107" name="Google Shape;107;p18"/>
          <p:cNvSpPr/>
          <p:nvPr/>
        </p:nvSpPr>
        <p:spPr>
          <a:xfrm>
            <a:off x="1266000" y="6548800"/>
            <a:ext cx="619200" cy="309200"/>
          </a:xfrm>
          <a:prstGeom prst="rect">
            <a:avLst/>
          </a:prstGeom>
          <a:solidFill>
            <a:srgbClr val="037682"/>
          </a:solidFill>
          <a:ln>
            <a:noFill/>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6140DC4-7287-8B75-0EF0-D70D2B2336D2}"/>
              </a:ext>
            </a:extLst>
          </p:cNvPr>
          <p:cNvSpPr/>
          <p:nvPr/>
        </p:nvSpPr>
        <p:spPr>
          <a:xfrm>
            <a:off x="0" y="-1"/>
            <a:ext cx="6873766" cy="2364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4" name="Diagram 53">
            <a:extLst>
              <a:ext uri="{FF2B5EF4-FFF2-40B4-BE49-F238E27FC236}">
                <a16:creationId xmlns:a16="http://schemas.microsoft.com/office/drawing/2014/main" id="{EA426945-08D4-32FF-3FCA-B478C306B8D8}"/>
              </a:ext>
            </a:extLst>
          </p:cNvPr>
          <p:cNvGraphicFramePr/>
          <p:nvPr>
            <p:extLst>
              <p:ext uri="{D42A27DB-BD31-4B8C-83A1-F6EECF244321}">
                <p14:modId xmlns:p14="http://schemas.microsoft.com/office/powerpoint/2010/main" val="1744737608"/>
              </p:ext>
            </p:extLst>
          </p:nvPr>
        </p:nvGraphicFramePr>
        <p:xfrm>
          <a:off x="-309282" y="408511"/>
          <a:ext cx="12501282" cy="6322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9" name="TextBox 48">
            <a:extLst>
              <a:ext uri="{FF2B5EF4-FFF2-40B4-BE49-F238E27FC236}">
                <a16:creationId xmlns:a16="http://schemas.microsoft.com/office/drawing/2014/main" id="{C10C443A-9A16-A2C2-CF81-94B7E619D274}"/>
              </a:ext>
            </a:extLst>
          </p:cNvPr>
          <p:cNvSpPr txBox="1"/>
          <p:nvPr/>
        </p:nvSpPr>
        <p:spPr>
          <a:xfrm>
            <a:off x="796158" y="118240"/>
            <a:ext cx="4776952" cy="709490"/>
          </a:xfrm>
          <a:prstGeom prst="rect">
            <a:avLst/>
          </a:prstGeom>
          <a:noFill/>
        </p:spPr>
        <p:txBody>
          <a:bodyPr wrap="square">
            <a:spAutoFit/>
          </a:bodyPr>
          <a:lstStyle/>
          <a:p>
            <a:pPr algn="ctr">
              <a:lnSpc>
                <a:spcPct val="200000"/>
              </a:lnSpc>
            </a:pPr>
            <a:r>
              <a:rPr lang="en-US" sz="2400" b="1" dirty="0">
                <a:latin typeface="Tahoma" panose="020B0604030504040204" pitchFamily="34" charset="0"/>
                <a:ea typeface="Tahoma" panose="020B0604030504040204" pitchFamily="34" charset="0"/>
                <a:cs typeface="Tahoma" panose="020B0604030504040204" pitchFamily="34" charset="0"/>
              </a:rPr>
              <a:t>INTRODUCTION</a:t>
            </a:r>
          </a:p>
        </p:txBody>
      </p:sp>
    </p:spTree>
    <p:extLst>
      <p:ext uri="{BB962C8B-B14F-4D97-AF65-F5344CB8AC3E}">
        <p14:creationId xmlns:p14="http://schemas.microsoft.com/office/powerpoint/2010/main" val="1614042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0F263-6E72-398D-4444-5EE64DAE295B}"/>
              </a:ext>
            </a:extLst>
          </p:cNvPr>
          <p:cNvSpPr>
            <a:spLocks noGrp="1"/>
          </p:cNvSpPr>
          <p:nvPr>
            <p:ph type="title"/>
          </p:nvPr>
        </p:nvSpPr>
        <p:spPr>
          <a:xfrm>
            <a:off x="1097280" y="286603"/>
            <a:ext cx="10058400" cy="1450757"/>
          </a:xfrm>
        </p:spPr>
        <p:txBody>
          <a:bodyPr>
            <a:normAutofit/>
          </a:bodyPr>
          <a:lstStyle/>
          <a:p>
            <a:r>
              <a:rPr lang="en-US" b="1"/>
              <a:t>RESEARCH MOTIVATION</a:t>
            </a:r>
          </a:p>
        </p:txBody>
      </p:sp>
      <p:graphicFrame>
        <p:nvGraphicFramePr>
          <p:cNvPr id="5" name="Content Placeholder 2">
            <a:extLst>
              <a:ext uri="{FF2B5EF4-FFF2-40B4-BE49-F238E27FC236}">
                <a16:creationId xmlns:a16="http://schemas.microsoft.com/office/drawing/2014/main" id="{A3E7B75A-3E43-B8D1-EC9A-AD3C549F334F}"/>
              </a:ext>
            </a:extLst>
          </p:cNvPr>
          <p:cNvGraphicFramePr>
            <a:graphicFrameLocks noGrp="1"/>
          </p:cNvGraphicFramePr>
          <p:nvPr>
            <p:ph idx="1"/>
            <p:extLst>
              <p:ext uri="{D42A27DB-BD31-4B8C-83A1-F6EECF244321}">
                <p14:modId xmlns:p14="http://schemas.microsoft.com/office/powerpoint/2010/main" val="1176189609"/>
              </p:ext>
            </p:extLst>
          </p:nvPr>
        </p:nvGraphicFramePr>
        <p:xfrm>
          <a:off x="416859" y="1183342"/>
          <a:ext cx="8498541" cy="47012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0033B58D-2078-4888-B536-0C4155B1B3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95821" y="1011981"/>
            <a:ext cx="2133600" cy="2133600"/>
          </a:xfrm>
          <a:prstGeom prst="rect">
            <a:avLst/>
          </a:prstGeom>
        </p:spPr>
      </p:pic>
      <p:pic>
        <p:nvPicPr>
          <p:cNvPr id="7" name="Picture 6">
            <a:extLst>
              <a:ext uri="{FF2B5EF4-FFF2-40B4-BE49-F238E27FC236}">
                <a16:creationId xmlns:a16="http://schemas.microsoft.com/office/drawing/2014/main" id="{5D4BF536-6A6B-4C24-B807-0705322F9A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95821" y="3712419"/>
            <a:ext cx="2133600" cy="2133600"/>
          </a:xfrm>
          <a:prstGeom prst="rect">
            <a:avLst/>
          </a:prstGeom>
        </p:spPr>
      </p:pic>
    </p:spTree>
    <p:extLst>
      <p:ext uri="{BB962C8B-B14F-4D97-AF65-F5344CB8AC3E}">
        <p14:creationId xmlns:p14="http://schemas.microsoft.com/office/powerpoint/2010/main" val="207520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EA2C-90A1-43F2-A6E2-18BCA477AF37}"/>
              </a:ext>
            </a:extLst>
          </p:cNvPr>
          <p:cNvSpPr>
            <a:spLocks noGrp="1"/>
          </p:cNvSpPr>
          <p:nvPr>
            <p:ph type="title"/>
          </p:nvPr>
        </p:nvSpPr>
        <p:spPr>
          <a:xfrm>
            <a:off x="374073" y="138547"/>
            <a:ext cx="7453745" cy="711920"/>
          </a:xfrm>
        </p:spPr>
        <p:txBody>
          <a:bodyPr/>
          <a:lstStyle/>
          <a:p>
            <a:r>
              <a:rPr lang="en-US" dirty="0"/>
              <a:t>        </a:t>
            </a:r>
            <a:r>
              <a:rPr lang="en-US" b="1" dirty="0">
                <a:latin typeface="Arial" panose="020B0604020202020204" pitchFamily="34" charset="0"/>
                <a:cs typeface="Arial" panose="020B0604020202020204" pitchFamily="34" charset="0"/>
              </a:rPr>
              <a:t>RESEARCH OBJECTIVES</a:t>
            </a:r>
            <a:endParaRPr lang="en-NG" b="1" dirty="0">
              <a:latin typeface="Arial" panose="020B0604020202020204" pitchFamily="34" charset="0"/>
              <a:cs typeface="Arial" panose="020B0604020202020204" pitchFamily="34" charset="0"/>
            </a:endParaRPr>
          </a:p>
        </p:txBody>
      </p:sp>
      <p:pic>
        <p:nvPicPr>
          <p:cNvPr id="6" name="Picture Placeholder 5">
            <a:extLst>
              <a:ext uri="{FF2B5EF4-FFF2-40B4-BE49-F238E27FC236}">
                <a16:creationId xmlns:a16="http://schemas.microsoft.com/office/drawing/2014/main" id="{502075A7-2FE0-4788-8398-8A4E03030369}"/>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9707" r="9707"/>
          <a:stretch>
            <a:fillRect/>
          </a:stretch>
        </p:blipFill>
        <p:spPr>
          <a:xfrm>
            <a:off x="8409709" y="494507"/>
            <a:ext cx="3070370" cy="2789020"/>
          </a:xfrm>
        </p:spPr>
      </p:pic>
      <p:sp>
        <p:nvSpPr>
          <p:cNvPr id="4" name="Text Placeholder 3">
            <a:extLst>
              <a:ext uri="{FF2B5EF4-FFF2-40B4-BE49-F238E27FC236}">
                <a16:creationId xmlns:a16="http://schemas.microsoft.com/office/drawing/2014/main" id="{7C35B596-99E4-41CC-A5CF-98084D193288}"/>
              </a:ext>
            </a:extLst>
          </p:cNvPr>
          <p:cNvSpPr>
            <a:spLocks noGrp="1"/>
          </p:cNvSpPr>
          <p:nvPr>
            <p:ph type="body" sz="half" idx="2"/>
          </p:nvPr>
        </p:nvSpPr>
        <p:spPr>
          <a:xfrm>
            <a:off x="374073" y="955964"/>
            <a:ext cx="6705600" cy="5763490"/>
          </a:xfrm>
        </p:spPr>
        <p:txBody>
          <a:bodyPr/>
          <a:lstStyle/>
          <a:p>
            <a:r>
              <a:rPr lang="en-US" sz="2300" dirty="0">
                <a:latin typeface="Arial" panose="020B0604020202020204" pitchFamily="34" charset="0"/>
                <a:cs typeface="Arial" panose="020B0604020202020204" pitchFamily="34" charset="0"/>
              </a:rPr>
              <a:t>The objectives in this research are to: </a:t>
            </a:r>
          </a:p>
          <a:p>
            <a:endParaRPr lang="en-US" sz="2300" dirty="0">
              <a:latin typeface="Arial" panose="020B0604020202020204" pitchFamily="34" charset="0"/>
              <a:cs typeface="Arial" panose="020B0604020202020204" pitchFamily="34" charset="0"/>
            </a:endParaRPr>
          </a:p>
          <a:p>
            <a:pPr marL="342900" indent="-342900">
              <a:buAutoNum type="arabicPeriod"/>
            </a:pPr>
            <a:r>
              <a:rPr lang="en-US" sz="2300" dirty="0">
                <a:latin typeface="Arial" panose="020B0604020202020204" pitchFamily="34" charset="0"/>
                <a:cs typeface="Arial" panose="020B0604020202020204" pitchFamily="34" charset="0"/>
              </a:rPr>
              <a:t>Develop a deep learning model for Early detection of Maize Diseases </a:t>
            </a:r>
          </a:p>
          <a:p>
            <a:pPr marL="342900" indent="-342900">
              <a:buAutoNum type="arabicPeriod"/>
            </a:pPr>
            <a:r>
              <a:rPr lang="en-US" sz="2300" dirty="0">
                <a:latin typeface="Arial" panose="020B0604020202020204" pitchFamily="34" charset="0"/>
                <a:cs typeface="Arial" panose="020B0604020202020204" pitchFamily="34" charset="0"/>
              </a:rPr>
              <a:t>Implement the model to classify the detected diseases.</a:t>
            </a:r>
          </a:p>
          <a:p>
            <a:pPr marL="342900" indent="-342900">
              <a:buAutoNum type="arabicPeriod"/>
            </a:pPr>
            <a:r>
              <a:rPr lang="en-US" sz="2300" dirty="0">
                <a:latin typeface="Arial" panose="020B0604020202020204" pitchFamily="34" charset="0"/>
                <a:cs typeface="Arial" panose="020B0604020202020204" pitchFamily="34" charset="0"/>
              </a:rPr>
              <a:t>Carry out the case study of the model.  </a:t>
            </a:r>
            <a:endParaRPr lang="en-NG" dirty="0"/>
          </a:p>
        </p:txBody>
      </p:sp>
      <p:pic>
        <p:nvPicPr>
          <p:cNvPr id="8" name="Picture 7">
            <a:extLst>
              <a:ext uri="{FF2B5EF4-FFF2-40B4-BE49-F238E27FC236}">
                <a16:creationId xmlns:a16="http://schemas.microsoft.com/office/drawing/2014/main" id="{A2628D75-AA1A-41EF-974A-4E4863ACA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9709" y="3574473"/>
            <a:ext cx="3070370" cy="2396835"/>
          </a:xfrm>
          <a:prstGeom prst="rect">
            <a:avLst/>
          </a:prstGeom>
        </p:spPr>
      </p:pic>
    </p:spTree>
    <p:extLst>
      <p:ext uri="{BB962C8B-B14F-4D97-AF65-F5344CB8AC3E}">
        <p14:creationId xmlns:p14="http://schemas.microsoft.com/office/powerpoint/2010/main" val="278159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926CB3-03C4-42F0-D1AF-7258F1C6225B}"/>
              </a:ext>
            </a:extLst>
          </p:cNvPr>
          <p:cNvSpPr txBox="1"/>
          <p:nvPr/>
        </p:nvSpPr>
        <p:spPr>
          <a:xfrm>
            <a:off x="4721478" y="96890"/>
            <a:ext cx="2797561" cy="461665"/>
          </a:xfrm>
          <a:prstGeom prst="rect">
            <a:avLst/>
          </a:prstGeom>
          <a:noFill/>
        </p:spPr>
        <p:txBody>
          <a:bodyPr wrap="none" rtlCol="0">
            <a:spAutoFit/>
          </a:bodyPr>
          <a:lstStyle/>
          <a:p>
            <a:r>
              <a:rPr lang="en-US" sz="2400" b="1" u="sng" dirty="0"/>
              <a:t>LITERATURE</a:t>
            </a:r>
            <a:r>
              <a:rPr lang="en-US" sz="2400" b="1" i="1" u="sng" dirty="0"/>
              <a:t> </a:t>
            </a:r>
            <a:r>
              <a:rPr lang="en-US" sz="2400" b="1" u="sng" dirty="0"/>
              <a:t>REVIEW</a:t>
            </a:r>
            <a:endParaRPr lang="en-NG" sz="2400" b="1" u="sng" dirty="0"/>
          </a:p>
        </p:txBody>
      </p:sp>
      <p:graphicFrame>
        <p:nvGraphicFramePr>
          <p:cNvPr id="5" name="Table 4">
            <a:extLst>
              <a:ext uri="{FF2B5EF4-FFF2-40B4-BE49-F238E27FC236}">
                <a16:creationId xmlns:a16="http://schemas.microsoft.com/office/drawing/2014/main" id="{095CA33A-34A0-36DC-A3A5-197856DF97C9}"/>
              </a:ext>
            </a:extLst>
          </p:cNvPr>
          <p:cNvGraphicFramePr>
            <a:graphicFrameLocks noGrp="1"/>
          </p:cNvGraphicFramePr>
          <p:nvPr>
            <p:extLst>
              <p:ext uri="{D42A27DB-BD31-4B8C-83A1-F6EECF244321}">
                <p14:modId xmlns:p14="http://schemas.microsoft.com/office/powerpoint/2010/main" val="166624935"/>
              </p:ext>
            </p:extLst>
          </p:nvPr>
        </p:nvGraphicFramePr>
        <p:xfrm>
          <a:off x="98359" y="558555"/>
          <a:ext cx="12159942" cy="7449108"/>
        </p:xfrm>
        <a:graphic>
          <a:graphicData uri="http://schemas.openxmlformats.org/drawingml/2006/table">
            <a:tbl>
              <a:tblPr firstRow="1" bandRow="1">
                <a:tableStyleId>{5A111915-BE36-4E01-A7E5-04B1672EAD32}</a:tableStyleId>
              </a:tblPr>
              <a:tblGrid>
                <a:gridCol w="510964">
                  <a:extLst>
                    <a:ext uri="{9D8B030D-6E8A-4147-A177-3AD203B41FA5}">
                      <a16:colId xmlns:a16="http://schemas.microsoft.com/office/drawing/2014/main" val="20000"/>
                    </a:ext>
                  </a:extLst>
                </a:gridCol>
                <a:gridCol w="2135503">
                  <a:extLst>
                    <a:ext uri="{9D8B030D-6E8A-4147-A177-3AD203B41FA5}">
                      <a16:colId xmlns:a16="http://schemas.microsoft.com/office/drawing/2014/main" val="20001"/>
                    </a:ext>
                  </a:extLst>
                </a:gridCol>
                <a:gridCol w="1831673">
                  <a:extLst>
                    <a:ext uri="{9D8B030D-6E8A-4147-A177-3AD203B41FA5}">
                      <a16:colId xmlns:a16="http://schemas.microsoft.com/office/drawing/2014/main" val="20002"/>
                    </a:ext>
                  </a:extLst>
                </a:gridCol>
                <a:gridCol w="1815449">
                  <a:extLst>
                    <a:ext uri="{9D8B030D-6E8A-4147-A177-3AD203B41FA5}">
                      <a16:colId xmlns:a16="http://schemas.microsoft.com/office/drawing/2014/main" val="20003"/>
                    </a:ext>
                  </a:extLst>
                </a:gridCol>
                <a:gridCol w="2642089">
                  <a:extLst>
                    <a:ext uri="{9D8B030D-6E8A-4147-A177-3AD203B41FA5}">
                      <a16:colId xmlns:a16="http://schemas.microsoft.com/office/drawing/2014/main" val="20004"/>
                    </a:ext>
                  </a:extLst>
                </a:gridCol>
                <a:gridCol w="229447">
                  <a:extLst>
                    <a:ext uri="{9D8B030D-6E8A-4147-A177-3AD203B41FA5}">
                      <a16:colId xmlns:a16="http://schemas.microsoft.com/office/drawing/2014/main" val="20005"/>
                    </a:ext>
                  </a:extLst>
                </a:gridCol>
                <a:gridCol w="2994817">
                  <a:extLst>
                    <a:ext uri="{9D8B030D-6E8A-4147-A177-3AD203B41FA5}">
                      <a16:colId xmlns:a16="http://schemas.microsoft.com/office/drawing/2014/main" val="20006"/>
                    </a:ext>
                  </a:extLst>
                </a:gridCol>
              </a:tblGrid>
              <a:tr h="978608">
                <a:tc>
                  <a:txBody>
                    <a:bodyPr/>
                    <a:lstStyle/>
                    <a:p>
                      <a:pPr algn="ctr"/>
                      <a:r>
                        <a:rPr lang="en-US" sz="1300" dirty="0">
                          <a:latin typeface="+mn-lt"/>
                        </a:rPr>
                        <a:t>S/N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Description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Motivation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Objective(s)</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Methodology</a:t>
                      </a:r>
                      <a:endParaRPr lang="en-US" sz="1300" dirty="0">
                        <a:solidFill>
                          <a:schemeClr val="bg1"/>
                        </a:solidFill>
                        <a:latin typeface="+mn-lt"/>
                        <a:cs typeface="Times New Roman" panose="02020603050405020304" pitchFamily="18" charset="0"/>
                      </a:endParaRPr>
                    </a:p>
                  </a:txBody>
                  <a:tcPr/>
                </a:tc>
                <a:tc>
                  <a:txBody>
                    <a:bodyPr/>
                    <a:lstStyle/>
                    <a:p>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Limitation(s)</a:t>
                      </a:r>
                      <a:endParaRPr lang="en-US" sz="1300" dirty="0">
                        <a:solidFill>
                          <a:schemeClr val="bg1"/>
                        </a:solidFill>
                        <a:latin typeface="+mn-lt"/>
                        <a:cs typeface="Times New Roman" panose="02020603050405020304" pitchFamily="18" charset="0"/>
                      </a:endParaRPr>
                    </a:p>
                  </a:txBody>
                  <a:tcPr/>
                </a:tc>
                <a:extLst>
                  <a:ext uri="{0D108BD9-81ED-4DB2-BD59-A6C34878D82A}">
                    <a16:rowId xmlns:a16="http://schemas.microsoft.com/office/drawing/2014/main" val="10000"/>
                  </a:ext>
                </a:extLst>
              </a:tr>
              <a:tr h="3104804">
                <a:tc>
                  <a:txBody>
                    <a:bodyPr/>
                    <a:lstStyle/>
                    <a:p>
                      <a:r>
                        <a:rPr lang="en-US" sz="1300" dirty="0">
                          <a:latin typeface="+mn-lt"/>
                        </a:rPr>
                        <a:t>1</a:t>
                      </a:r>
                      <a:endParaRPr lang="en-US" sz="1300" dirty="0">
                        <a:solidFill>
                          <a:schemeClr val="bg1"/>
                        </a:solidFill>
                        <a:latin typeface="+mn-lt"/>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Nidhi </a:t>
                      </a:r>
                      <a:r>
                        <a:rPr lang="en-US" sz="1300" b="0" i="1" u="none" strike="noStrike" cap="none" dirty="0">
                          <a:solidFill>
                            <a:schemeClr val="tx1"/>
                          </a:solidFill>
                          <a:effectLst/>
                          <a:latin typeface="Arial" panose="020B0604020202020204" pitchFamily="34" charset="0"/>
                          <a:ea typeface="+mn-ea"/>
                          <a:cs typeface="Arial" panose="020B0604020202020204" pitchFamily="34" charset="0"/>
                          <a:sym typeface="Arial"/>
                        </a:rPr>
                        <a:t>et al</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(2022). Disease detection, severity prediction, and crop loss estimation in maize using deep learning</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The increasing gap between the demand and productivity of maize crop in the food industry. Manual detection and classification of these diseases, calculation of disease severity and crop loss estimation is a time-consuming manual task</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pPr marL="342900" indent="-342900">
                        <a:buAutoNum type="arabicPeriod"/>
                      </a:pPr>
                      <a:r>
                        <a:rPr lang="en-US" sz="1300" dirty="0">
                          <a:latin typeface="Arial" panose="020B0604020202020204" pitchFamily="34" charset="0"/>
                          <a:cs typeface="Arial" panose="020B0604020202020204" pitchFamily="34" charset="0"/>
                        </a:rPr>
                        <a:t>Automatic </a:t>
                      </a:r>
                      <a:r>
                        <a:rPr lang="en-US" sz="1400" dirty="0">
                          <a:latin typeface="Arial" panose="020B0604020202020204" pitchFamily="34" charset="0"/>
                          <a:cs typeface="Arial" panose="020B0604020202020204" pitchFamily="34" charset="0"/>
                        </a:rPr>
                        <a:t>disease detection </a:t>
                      </a:r>
                    </a:p>
                    <a:p>
                      <a:pPr marL="342900" indent="-342900">
                        <a:buAutoNum type="arabicPeriod"/>
                      </a:pPr>
                      <a:r>
                        <a:rPr lang="en-US" sz="1400" dirty="0">
                          <a:latin typeface="Arial" panose="020B0604020202020204" pitchFamily="34" charset="0"/>
                          <a:cs typeface="Arial" panose="020B0604020202020204" pitchFamily="34" charset="0"/>
                        </a:rPr>
                        <a:t>2. Automatic crop loss detection </a:t>
                      </a:r>
                    </a:p>
                    <a:p>
                      <a:pPr marL="342900" indent="-342900">
                        <a:buAutoNum type="arabicPeriod"/>
                      </a:pPr>
                      <a:r>
                        <a:rPr lang="en-US" sz="1400" dirty="0">
                          <a:latin typeface="Arial" panose="020B0604020202020204" pitchFamily="34" charset="0"/>
                          <a:cs typeface="Arial" panose="020B0604020202020204" pitchFamily="34" charset="0"/>
                        </a:rPr>
                        <a:t>Automatic disease classification</a:t>
                      </a:r>
                      <a:endParaRPr lang="en-US" sz="14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r>
                        <a:rPr lang="en-US" sz="135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method involved the use of image dataset from a pant pathologist, the image dataset made use of k-means algorithm algorithm for segmentation. The images where then feed to a CNN model called MaizeNet which comprise of nine convolutional layers and three max pooling layers. The flatten layer was able to output four classes namely: Healthy, TLB, Rust and multi-diseases.</a:t>
                      </a:r>
                    </a:p>
                  </a:txBody>
                  <a:tcPr/>
                </a:tc>
                <a:tc>
                  <a:txBody>
                    <a:bodyPr/>
                    <a:lstStyle/>
                    <a:p>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pPr marL="342900" indent="-342900">
                        <a:buAutoNum type="arabicPeriod"/>
                      </a:pPr>
                      <a:r>
                        <a:rPr lang="en-US" sz="1400" dirty="0">
                          <a:latin typeface="Arial" panose="020B0604020202020204" pitchFamily="34" charset="0"/>
                          <a:cs typeface="Arial" panose="020B0604020202020204" pitchFamily="34" charset="0"/>
                        </a:rPr>
                        <a:t>Limited classes of disease consideration</a:t>
                      </a:r>
                    </a:p>
                    <a:p>
                      <a:pPr marL="342900" indent="-342900">
                        <a:buAutoNum type="arabicPeriod"/>
                      </a:pPr>
                      <a:endParaRPr lang="en-US" sz="1400" dirty="0">
                        <a:latin typeface="Arial" panose="020B0604020202020204" pitchFamily="34" charset="0"/>
                        <a:cs typeface="Arial" panose="020B0604020202020204" pitchFamily="34" charset="0"/>
                      </a:endParaRPr>
                    </a:p>
                    <a:p>
                      <a:pPr marL="342900" indent="-342900">
                        <a:buAutoNum type="arabicPeriod"/>
                      </a:pPr>
                      <a:r>
                        <a:rPr lang="en-US" sz="1400" dirty="0">
                          <a:latin typeface="Arial" panose="020B0604020202020204" pitchFamily="34" charset="0"/>
                          <a:cs typeface="Arial" panose="020B0604020202020204" pitchFamily="34" charset="0"/>
                        </a:rPr>
                        <a:t>Use of complex CNN model on smaller dataset which could result into overfitting </a:t>
                      </a: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extLst>
                  <a:ext uri="{0D108BD9-81ED-4DB2-BD59-A6C34878D82A}">
                    <a16:rowId xmlns:a16="http://schemas.microsoft.com/office/drawing/2014/main" val="10001"/>
                  </a:ext>
                </a:extLst>
              </a:tr>
              <a:tr h="2551472">
                <a:tc>
                  <a:txBody>
                    <a:bodyPr/>
                    <a:lstStyle/>
                    <a:p>
                      <a:r>
                        <a:rPr lang="en-US" sz="1300" dirty="0">
                          <a:solidFill>
                            <a:schemeClr val="tx1"/>
                          </a:solidFill>
                          <a:latin typeface="+mn-lt"/>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Kshyanaprava </a:t>
                      </a:r>
                      <a:r>
                        <a:rPr lang="en-US" sz="1300" b="0" i="1" u="none" strike="noStrike" cap="none" dirty="0">
                          <a:solidFill>
                            <a:schemeClr val="tx1"/>
                          </a:solidFill>
                          <a:effectLst/>
                          <a:latin typeface="Arial" panose="020B0604020202020204" pitchFamily="34" charset="0"/>
                          <a:ea typeface="+mn-ea"/>
                          <a:cs typeface="Arial" panose="020B0604020202020204" pitchFamily="34" charset="0"/>
                          <a:sym typeface="Arial"/>
                        </a:rPr>
                        <a:t>et al</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(2020). </a:t>
                      </a:r>
                      <a:r>
                        <a:rPr lang="en-US" sz="1400" dirty="0">
                          <a:latin typeface="Arial" panose="020B0604020202020204" pitchFamily="34" charset="0"/>
                          <a:cs typeface="Arial" panose="020B0604020202020204" pitchFamily="34" charset="0"/>
                        </a:rPr>
                        <a:t>Maize Disease Detection and classification using ML algorithm</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continuous reduction in the yield of maize crop production in the country and time and cost consumption in assessment of the quality of crop through visual inspection.  </a:t>
                      </a:r>
                      <a:endParaRPr lang="en-US" sz="1300" dirty="0">
                        <a:latin typeface="Arial" panose="020B0604020202020204" pitchFamily="34" charset="0"/>
                        <a:cs typeface="Arial" panose="020B0604020202020204" pitchFamily="34" charset="0"/>
                      </a:endParaRPr>
                    </a:p>
                  </a:txBody>
                  <a:tcPr/>
                </a:tc>
                <a:tc>
                  <a:txBody>
                    <a:bodyPr/>
                    <a:lstStyle/>
                    <a:p>
                      <a:pPr marL="342900" indent="-342900">
                        <a:buAutoNum type="arabicPeriod"/>
                      </a:pPr>
                      <a:r>
                        <a:rPr lang="en-US" sz="1400" b="0" i="0" u="none" strike="noStrike" cap="none" dirty="0">
                          <a:solidFill>
                            <a:schemeClr val="tx1"/>
                          </a:solidFill>
                          <a:effectLst/>
                          <a:latin typeface="Arial" panose="020B0604020202020204" pitchFamily="34" charset="0"/>
                          <a:ea typeface="+mn-ea"/>
                          <a:cs typeface="Arial" panose="020B0604020202020204" pitchFamily="34" charset="0"/>
                          <a:sym typeface="Arial"/>
                        </a:rPr>
                        <a:t>Detection of maize diseases using ML.</a:t>
                      </a:r>
                    </a:p>
                    <a:p>
                      <a:pPr marL="342900" indent="-342900">
                        <a:buAutoNum type="arabicPeriod"/>
                      </a:pPr>
                      <a:r>
                        <a:rPr lang="en-US" sz="1400" b="0" i="0" u="none" strike="noStrike" cap="none" dirty="0">
                          <a:solidFill>
                            <a:schemeClr val="tx1"/>
                          </a:solidFill>
                          <a:effectLst/>
                          <a:latin typeface="Arial" panose="020B0604020202020204" pitchFamily="34" charset="0"/>
                          <a:ea typeface="+mn-ea"/>
                          <a:cs typeface="Arial" panose="020B0604020202020204" pitchFamily="34" charset="0"/>
                          <a:sym typeface="Arial"/>
                        </a:rPr>
                        <a:t>Classification of maize diseases using ML </a:t>
                      </a:r>
                    </a:p>
                  </a:txBody>
                  <a:tcPr/>
                </a:tc>
                <a:tc>
                  <a:txBody>
                    <a:bodyPr/>
                    <a:lstStyle/>
                    <a:p>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approach the authors used was that they acquired labelled data set converted them to grayscale, segmented those labelled dataset. After that the segmented dataset, the features were extracted and six machine learning classifiers were used to classify each dataset. </a:t>
                      </a:r>
                    </a:p>
                  </a:txBody>
                  <a:tcPr/>
                </a:tc>
                <a:tc>
                  <a:txBody>
                    <a:bodyPr/>
                    <a:lstStyle/>
                    <a:p>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pPr marL="342900" indent="-342900">
                        <a:buAutoNum type="arabicPeriod"/>
                      </a:pPr>
                      <a:r>
                        <a:rPr lang="en-US" sz="1400" dirty="0">
                          <a:latin typeface="Arial" panose="020B0604020202020204" pitchFamily="34" charset="0"/>
                          <a:cs typeface="Arial" panose="020B0604020202020204" pitchFamily="34" charset="0"/>
                        </a:rPr>
                        <a:t>Limited Feature consideration</a:t>
                      </a:r>
                    </a:p>
                    <a:p>
                      <a:pPr marL="342900" indent="-342900">
                        <a:buAutoNum type="arabicPeriod"/>
                      </a:pPr>
                      <a:r>
                        <a:rPr lang="en-US" sz="1400" dirty="0">
                          <a:latin typeface="Arial" panose="020B0604020202020204" pitchFamily="34" charset="0"/>
                          <a:cs typeface="Arial" panose="020B0604020202020204" pitchFamily="34" charset="0"/>
                        </a:rPr>
                        <a:t>Insufficient use of feature extraction techniques.</a:t>
                      </a:r>
                    </a:p>
                    <a:p>
                      <a:pPr marL="342900" indent="-342900">
                        <a:buAutoNum type="arabicPeriod"/>
                      </a:pPr>
                      <a:r>
                        <a:rPr lang="en-US" sz="1400" dirty="0">
                          <a:latin typeface="Arial" panose="020B0604020202020204" pitchFamily="34" charset="0"/>
                          <a:cs typeface="Arial" panose="020B0604020202020204" pitchFamily="34" charset="0"/>
                        </a:rPr>
                        <a:t>The use of secondary dataset</a:t>
                      </a: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extLst>
                  <a:ext uri="{0D108BD9-81ED-4DB2-BD59-A6C34878D82A}">
                    <a16:rowId xmlns:a16="http://schemas.microsoft.com/office/drawing/2014/main" val="10002"/>
                  </a:ext>
                </a:extLst>
              </a:tr>
              <a:tr h="407112">
                <a:tc>
                  <a:txBody>
                    <a:bodyPr/>
                    <a:lstStyle/>
                    <a:p>
                      <a:endParaRPr lang="en-US" sz="1300" dirty="0">
                        <a:solidFill>
                          <a:schemeClr val="bg1"/>
                        </a:solidFill>
                        <a:latin typeface="+mn-lt"/>
                        <a:cs typeface="Times New Roman" panose="02020603050405020304" pitchFamily="18" charset="0"/>
                      </a:endParaRPr>
                    </a:p>
                  </a:txBody>
                  <a:tcPr/>
                </a:tc>
                <a:tc rowSpan="2" gridSpan="6">
                  <a:txBody>
                    <a:bodyPr/>
                    <a:lstStyle/>
                    <a:p>
                      <a:pPr marL="0" indent="0" algn="just">
                        <a:buNone/>
                      </a:pPr>
                      <a:endParaRPr lang="en-US" sz="1300" dirty="0">
                        <a:solidFill>
                          <a:schemeClr val="bg1"/>
                        </a:solidFill>
                        <a:latin typeface="+mn-lt"/>
                        <a:cs typeface="Times New Roman" panose="02020603050405020304" pitchFamily="18" charset="0"/>
                      </a:endParaRPr>
                    </a:p>
                  </a:txBody>
                  <a:tcPr/>
                </a:tc>
                <a:tc rowSpan="2" hMerge="1">
                  <a:txBody>
                    <a:bodyPr/>
                    <a:lstStyle/>
                    <a:p>
                      <a:pPr marL="0" indent="0" algn="just">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pPr algn="l">
                        <a:buFont typeface="Arial" panose="020B0604020202020204" pitchFamily="34" charset="0"/>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3"/>
                  </a:ext>
                </a:extLst>
              </a:tr>
              <a:tr h="407112">
                <a:tc>
                  <a:txBody>
                    <a:bodyPr/>
                    <a:lstStyle/>
                    <a:p>
                      <a:endParaRPr lang="en-US" sz="1300" dirty="0">
                        <a:solidFill>
                          <a:schemeClr val="bg1"/>
                        </a:solidFill>
                        <a:latin typeface="+mn-lt"/>
                        <a:cs typeface="Times New Roman" panose="02020603050405020304" pitchFamily="18" charset="0"/>
                      </a:endParaRPr>
                    </a:p>
                  </a:txBody>
                  <a:tcPr/>
                </a:tc>
                <a:tc gridSpan="6"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b="1"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3991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926CB3-03C4-42F0-D1AF-7258F1C6225B}"/>
              </a:ext>
            </a:extLst>
          </p:cNvPr>
          <p:cNvSpPr txBox="1"/>
          <p:nvPr/>
        </p:nvSpPr>
        <p:spPr>
          <a:xfrm>
            <a:off x="4721478" y="96890"/>
            <a:ext cx="2797561" cy="461665"/>
          </a:xfrm>
          <a:prstGeom prst="rect">
            <a:avLst/>
          </a:prstGeom>
          <a:noFill/>
        </p:spPr>
        <p:txBody>
          <a:bodyPr wrap="none" rtlCol="0">
            <a:spAutoFit/>
          </a:bodyPr>
          <a:lstStyle/>
          <a:p>
            <a:r>
              <a:rPr lang="en-US" sz="2400" b="1" u="sng" dirty="0"/>
              <a:t>LITERATURE</a:t>
            </a:r>
            <a:r>
              <a:rPr lang="en-US" sz="2400" b="1" i="1" u="sng" dirty="0"/>
              <a:t> </a:t>
            </a:r>
            <a:r>
              <a:rPr lang="en-US" sz="2400" b="1" u="sng" dirty="0"/>
              <a:t>REVIEW</a:t>
            </a:r>
            <a:endParaRPr lang="en-NG" sz="2400" b="1" u="sng" dirty="0"/>
          </a:p>
        </p:txBody>
      </p:sp>
      <p:graphicFrame>
        <p:nvGraphicFramePr>
          <p:cNvPr id="5" name="Table 4">
            <a:extLst>
              <a:ext uri="{FF2B5EF4-FFF2-40B4-BE49-F238E27FC236}">
                <a16:creationId xmlns:a16="http://schemas.microsoft.com/office/drawing/2014/main" id="{095CA33A-34A0-36DC-A3A5-197856DF97C9}"/>
              </a:ext>
            </a:extLst>
          </p:cNvPr>
          <p:cNvGraphicFramePr>
            <a:graphicFrameLocks noGrp="1"/>
          </p:cNvGraphicFramePr>
          <p:nvPr>
            <p:extLst>
              <p:ext uri="{D42A27DB-BD31-4B8C-83A1-F6EECF244321}">
                <p14:modId xmlns:p14="http://schemas.microsoft.com/office/powerpoint/2010/main" val="2975649528"/>
              </p:ext>
            </p:extLst>
          </p:nvPr>
        </p:nvGraphicFramePr>
        <p:xfrm>
          <a:off x="98359" y="621711"/>
          <a:ext cx="12128721" cy="7445391"/>
        </p:xfrm>
        <a:graphic>
          <a:graphicData uri="http://schemas.openxmlformats.org/drawingml/2006/table">
            <a:tbl>
              <a:tblPr firstRow="1" bandRow="1">
                <a:tableStyleId>{5A111915-BE36-4E01-A7E5-04B1672EAD32}</a:tableStyleId>
              </a:tblPr>
              <a:tblGrid>
                <a:gridCol w="479743">
                  <a:extLst>
                    <a:ext uri="{9D8B030D-6E8A-4147-A177-3AD203B41FA5}">
                      <a16:colId xmlns:a16="http://schemas.microsoft.com/office/drawing/2014/main" val="20000"/>
                    </a:ext>
                  </a:extLst>
                </a:gridCol>
                <a:gridCol w="2135503">
                  <a:extLst>
                    <a:ext uri="{9D8B030D-6E8A-4147-A177-3AD203B41FA5}">
                      <a16:colId xmlns:a16="http://schemas.microsoft.com/office/drawing/2014/main" val="20001"/>
                    </a:ext>
                  </a:extLst>
                </a:gridCol>
                <a:gridCol w="1831673">
                  <a:extLst>
                    <a:ext uri="{9D8B030D-6E8A-4147-A177-3AD203B41FA5}">
                      <a16:colId xmlns:a16="http://schemas.microsoft.com/office/drawing/2014/main" val="20002"/>
                    </a:ext>
                  </a:extLst>
                </a:gridCol>
                <a:gridCol w="1815449">
                  <a:extLst>
                    <a:ext uri="{9D8B030D-6E8A-4147-A177-3AD203B41FA5}">
                      <a16:colId xmlns:a16="http://schemas.microsoft.com/office/drawing/2014/main" val="20003"/>
                    </a:ext>
                  </a:extLst>
                </a:gridCol>
                <a:gridCol w="2642089">
                  <a:extLst>
                    <a:ext uri="{9D8B030D-6E8A-4147-A177-3AD203B41FA5}">
                      <a16:colId xmlns:a16="http://schemas.microsoft.com/office/drawing/2014/main" val="20004"/>
                    </a:ext>
                  </a:extLst>
                </a:gridCol>
                <a:gridCol w="229447">
                  <a:extLst>
                    <a:ext uri="{9D8B030D-6E8A-4147-A177-3AD203B41FA5}">
                      <a16:colId xmlns:a16="http://schemas.microsoft.com/office/drawing/2014/main" val="20005"/>
                    </a:ext>
                  </a:extLst>
                </a:gridCol>
                <a:gridCol w="2994817">
                  <a:extLst>
                    <a:ext uri="{9D8B030D-6E8A-4147-A177-3AD203B41FA5}">
                      <a16:colId xmlns:a16="http://schemas.microsoft.com/office/drawing/2014/main" val="20006"/>
                    </a:ext>
                  </a:extLst>
                </a:gridCol>
              </a:tblGrid>
              <a:tr h="970311">
                <a:tc>
                  <a:txBody>
                    <a:bodyPr/>
                    <a:lstStyle/>
                    <a:p>
                      <a:pPr algn="ctr"/>
                      <a:r>
                        <a:rPr lang="en-US" sz="1300" dirty="0">
                          <a:latin typeface="+mn-lt"/>
                        </a:rPr>
                        <a:t>S/N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Description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Motivation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Objective(s)</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Methodology</a:t>
                      </a:r>
                      <a:endParaRPr lang="en-US" sz="1300" dirty="0">
                        <a:solidFill>
                          <a:schemeClr val="bg1"/>
                        </a:solidFill>
                        <a:latin typeface="+mn-lt"/>
                        <a:cs typeface="Times New Roman" panose="02020603050405020304" pitchFamily="18" charset="0"/>
                      </a:endParaRPr>
                    </a:p>
                  </a:txBody>
                  <a:tcPr/>
                </a:tc>
                <a:tc>
                  <a:txBody>
                    <a:bodyPr/>
                    <a:lstStyle/>
                    <a:p>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Limitation(s)</a:t>
                      </a:r>
                      <a:endParaRPr lang="en-US" sz="1300" dirty="0">
                        <a:solidFill>
                          <a:schemeClr val="bg1"/>
                        </a:solidFill>
                        <a:latin typeface="+mn-lt"/>
                        <a:cs typeface="Times New Roman" panose="02020603050405020304" pitchFamily="18" charset="0"/>
                      </a:endParaRPr>
                    </a:p>
                  </a:txBody>
                  <a:tcPr/>
                </a:tc>
                <a:extLst>
                  <a:ext uri="{0D108BD9-81ED-4DB2-BD59-A6C34878D82A}">
                    <a16:rowId xmlns:a16="http://schemas.microsoft.com/office/drawing/2014/main" val="10000"/>
                  </a:ext>
                </a:extLst>
              </a:tr>
              <a:tr h="2529840">
                <a:tc>
                  <a:txBody>
                    <a:bodyPr/>
                    <a:lstStyle/>
                    <a:p>
                      <a:r>
                        <a:rPr lang="en-US" sz="1300" dirty="0">
                          <a:latin typeface="+mn-lt"/>
                        </a:rPr>
                        <a:t>3</a:t>
                      </a:r>
                      <a:endParaRPr lang="en-US" sz="1300" dirty="0">
                        <a:solidFill>
                          <a:schemeClr val="bg1"/>
                        </a:solidFill>
                        <a:latin typeface="+mn-lt"/>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Sahil </a:t>
                      </a:r>
                      <a:r>
                        <a:rPr lang="en-US" sz="1300" b="0" i="1" u="none" strike="noStrike" cap="none" dirty="0">
                          <a:solidFill>
                            <a:schemeClr val="tx1"/>
                          </a:solidFill>
                          <a:effectLst/>
                          <a:latin typeface="Arial" panose="020B0604020202020204" pitchFamily="34" charset="0"/>
                          <a:ea typeface="+mn-ea"/>
                          <a:cs typeface="Arial" panose="020B0604020202020204" pitchFamily="34" charset="0"/>
                          <a:sym typeface="Arial"/>
                        </a:rPr>
                        <a:t>et al</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(2023). Convolutional Neural Network Based Maize Disease Identification.</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The author saw the diverse importance of maize crop in agriculture and how it production helped his country Indian in cereals production. The occurrence of maize disease posed a threat to the production and has led to reduction in quantity and quality of cereal across the country.</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pPr marL="342900" indent="-342900">
                        <a:buAutoNum type="arabicPeriod"/>
                      </a:pPr>
                      <a:r>
                        <a:rPr lang="en-US" sz="1400" dirty="0">
                          <a:latin typeface="Arial" panose="020B0604020202020204" pitchFamily="34" charset="0"/>
                          <a:cs typeface="Arial" panose="020B0604020202020204" pitchFamily="34" charset="0"/>
                        </a:rPr>
                        <a:t>Detection of maize disease in the early stage</a:t>
                      </a:r>
                      <a:r>
                        <a:rPr lang="en-US" sz="1300" dirty="0">
                          <a:latin typeface="Arial" panose="020B0604020202020204" pitchFamily="34" charset="0"/>
                          <a:cs typeface="Arial" panose="020B0604020202020204" pitchFamily="34" charset="0"/>
                        </a:rPr>
                        <a:t>. </a:t>
                      </a:r>
                    </a:p>
                    <a:p>
                      <a:pPr marL="342900" indent="-342900">
                        <a:buAutoNum type="arabicPeriod"/>
                      </a:pPr>
                      <a:r>
                        <a:rPr lang="en-US" sz="1400" dirty="0">
                          <a:latin typeface="Arial" panose="020B0604020202020204" pitchFamily="34" charset="0"/>
                          <a:cs typeface="Arial" panose="020B0604020202020204" pitchFamily="34" charset="0"/>
                        </a:rPr>
                        <a:t>Bicategory classification of maize disease using CNN</a:t>
                      </a: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methodology used started with data acquisition from plant village, the next step was using the following data preprocessing techniques; log transformation, CLAHE and Log+CLAHE on each channel of the RGB color space. After preprocessing of the images they made use of CNN network to train the dataset and finally used it for bicategorical classification. </a:t>
                      </a:r>
                    </a:p>
                  </a:txBody>
                  <a:tcPr/>
                </a:tc>
                <a:tc>
                  <a:txBody>
                    <a:bodyPr/>
                    <a:lstStyle/>
                    <a:p>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pPr marL="0" indent="0">
                        <a:buNone/>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limitation from these authors was that they made use of secondary dataset which sometimes are not well labelled and might not seem fit for real life application</a:t>
                      </a:r>
                    </a:p>
                    <a:p>
                      <a:pPr marL="0" indent="0">
                        <a:buNone/>
                      </a:pP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extLst>
                  <a:ext uri="{0D108BD9-81ED-4DB2-BD59-A6C34878D82A}">
                    <a16:rowId xmlns:a16="http://schemas.microsoft.com/office/drawing/2014/main" val="10001"/>
                  </a:ext>
                </a:extLst>
              </a:tr>
              <a:tr h="2375920">
                <a:tc>
                  <a:txBody>
                    <a:bodyPr/>
                    <a:lstStyle/>
                    <a:p>
                      <a:r>
                        <a:rPr lang="en-US" sz="1300" dirty="0">
                          <a:solidFill>
                            <a:schemeClr val="tx1"/>
                          </a:solidFill>
                          <a:latin typeface="+mn-lt"/>
                          <a:cs typeface="Times New Roman" panose="02020603050405020304" pitchFamily="18" charset="0"/>
                        </a:rPr>
                        <a:t>4</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Sibiya </a:t>
                      </a:r>
                      <a:r>
                        <a:rPr lang="en-US" sz="1300" b="0" i="1" u="none" strike="noStrike" cap="none" dirty="0">
                          <a:solidFill>
                            <a:schemeClr val="tx1"/>
                          </a:solidFill>
                          <a:effectLst/>
                          <a:latin typeface="Arial" panose="020B0604020202020204" pitchFamily="34" charset="0"/>
                          <a:ea typeface="+mn-ea"/>
                          <a:cs typeface="Arial" panose="020B0604020202020204" pitchFamily="34" charset="0"/>
                          <a:sym typeface="Arial"/>
                        </a:rPr>
                        <a:t>et al</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 (2019). </a:t>
                      </a:r>
                      <a:r>
                        <a:rPr lang="en-US" sz="1400" dirty="0">
                          <a:latin typeface="Arial" panose="020B0604020202020204" pitchFamily="34" charset="0"/>
                          <a:cs typeface="Arial" panose="020B0604020202020204" pitchFamily="34" charset="0"/>
                        </a:rPr>
                        <a:t>A computational procedure for the recognition and classification of maize leaf disease out of healthy leaves using CNN</a:t>
                      </a:r>
                      <a:endParaRPr lang="en-US" sz="1300" dirty="0">
                        <a:solidFill>
                          <a:schemeClr val="bg1"/>
                        </a:solidFill>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latin typeface="Arial" panose="020B0604020202020204" pitchFamily="34" charset="0"/>
                          <a:cs typeface="Arial" panose="020B0604020202020204" pitchFamily="34" charset="0"/>
                        </a:rPr>
                        <a:t>The effect of disease affects maize production in South Africa and the time consumption used in traditional detection of disease in maize and classification of these diseases</a:t>
                      </a:r>
                    </a:p>
                  </a:txBody>
                  <a:tcPr/>
                </a:tc>
                <a:tc>
                  <a:txBody>
                    <a:bodyPr/>
                    <a:lstStyle/>
                    <a:p>
                      <a:pPr marL="342900" indent="-342900">
                        <a:buAutoNum type="arabicPeriod"/>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Development of a CNN network that detects maize diseases.</a:t>
                      </a:r>
                    </a:p>
                    <a:p>
                      <a:pPr marL="342900" indent="-342900">
                        <a:buAutoNum type="arabicPeriod"/>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Implementation of the CNN network that Classifies of maize diseases.</a:t>
                      </a:r>
                    </a:p>
                  </a:txBody>
                  <a:tcPr/>
                </a:tc>
                <a:tc>
                  <a:txBody>
                    <a:bodyPr/>
                    <a:lstStyle/>
                    <a:p>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method started with data acquisition which the authors got using real life data captured on phone, they proceeded to label and resizing the datasets. The resized dataset were feed to a convolutional neural network with 50 hidden layers. Finally, the CNN was used in detecting three maize diseases.</a:t>
                      </a:r>
                    </a:p>
                  </a:txBody>
                  <a:tcPr/>
                </a:tc>
                <a:tc>
                  <a:txBody>
                    <a:bodyPr/>
                    <a:lstStyle/>
                    <a:p>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pPr marL="342900" indent="-342900">
                        <a:buAutoNum type="arabicPeriod"/>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Authors only considered few maize diseases.</a:t>
                      </a:r>
                    </a:p>
                    <a:p>
                      <a:pPr marL="342900" indent="-342900">
                        <a:buAutoNum type="arabicPeriod"/>
                      </a:pP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CNN network used in this research were complex and well constructed but the they trained this model with 100 data set which would lead to overfitting when it is deployed to real life scenario.</a:t>
                      </a:r>
                    </a:p>
                    <a:p>
                      <a:pPr marL="0" indent="0">
                        <a:buNone/>
                      </a:pP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extLst>
                  <a:ext uri="{0D108BD9-81ED-4DB2-BD59-A6C34878D82A}">
                    <a16:rowId xmlns:a16="http://schemas.microsoft.com/office/drawing/2014/main" val="10002"/>
                  </a:ext>
                </a:extLst>
              </a:tr>
              <a:tr h="403660">
                <a:tc>
                  <a:txBody>
                    <a:bodyPr/>
                    <a:lstStyle/>
                    <a:p>
                      <a:endParaRPr lang="en-US" sz="1300" dirty="0">
                        <a:solidFill>
                          <a:schemeClr val="bg1"/>
                        </a:solidFill>
                        <a:latin typeface="+mn-lt"/>
                        <a:cs typeface="Times New Roman" panose="02020603050405020304" pitchFamily="18" charset="0"/>
                      </a:endParaRPr>
                    </a:p>
                  </a:txBody>
                  <a:tcPr/>
                </a:tc>
                <a:tc rowSpan="2" gridSpan="6">
                  <a:txBody>
                    <a:bodyPr/>
                    <a:lstStyle/>
                    <a:p>
                      <a:pPr marL="0" indent="0" algn="just">
                        <a:buNone/>
                      </a:pPr>
                      <a:endParaRPr lang="en-US" sz="1300" dirty="0">
                        <a:solidFill>
                          <a:schemeClr val="bg1"/>
                        </a:solidFill>
                        <a:latin typeface="+mn-lt"/>
                        <a:cs typeface="Times New Roman" panose="02020603050405020304" pitchFamily="18" charset="0"/>
                      </a:endParaRPr>
                    </a:p>
                  </a:txBody>
                  <a:tcPr/>
                </a:tc>
                <a:tc rowSpan="2" hMerge="1">
                  <a:txBody>
                    <a:bodyPr/>
                    <a:lstStyle/>
                    <a:p>
                      <a:pPr marL="0" indent="0" algn="just">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pPr algn="l">
                        <a:buFont typeface="Arial" panose="020B0604020202020204" pitchFamily="34" charset="0"/>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3"/>
                  </a:ext>
                </a:extLst>
              </a:tr>
              <a:tr h="403660">
                <a:tc>
                  <a:txBody>
                    <a:bodyPr/>
                    <a:lstStyle/>
                    <a:p>
                      <a:endParaRPr lang="en-US" sz="1300" dirty="0">
                        <a:solidFill>
                          <a:schemeClr val="bg1"/>
                        </a:solidFill>
                        <a:latin typeface="+mn-lt"/>
                        <a:cs typeface="Times New Roman" panose="02020603050405020304" pitchFamily="18" charset="0"/>
                      </a:endParaRPr>
                    </a:p>
                  </a:txBody>
                  <a:tcPr/>
                </a:tc>
                <a:tc gridSpan="6"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b="1"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363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926CB3-03C4-42F0-D1AF-7258F1C6225B}"/>
              </a:ext>
            </a:extLst>
          </p:cNvPr>
          <p:cNvSpPr txBox="1"/>
          <p:nvPr/>
        </p:nvSpPr>
        <p:spPr>
          <a:xfrm>
            <a:off x="4721478" y="96890"/>
            <a:ext cx="2797561" cy="461665"/>
          </a:xfrm>
          <a:prstGeom prst="rect">
            <a:avLst/>
          </a:prstGeom>
          <a:noFill/>
        </p:spPr>
        <p:txBody>
          <a:bodyPr wrap="none" rtlCol="0">
            <a:spAutoFit/>
          </a:bodyPr>
          <a:lstStyle/>
          <a:p>
            <a:r>
              <a:rPr lang="en-US" sz="2400" b="1" u="sng" dirty="0"/>
              <a:t>LITERATURE</a:t>
            </a:r>
            <a:r>
              <a:rPr lang="en-US" sz="2400" b="1" i="1" u="sng" dirty="0"/>
              <a:t> </a:t>
            </a:r>
            <a:r>
              <a:rPr lang="en-US" sz="2400" b="1" u="sng" dirty="0"/>
              <a:t>REVIEW</a:t>
            </a:r>
            <a:endParaRPr lang="en-NG" sz="2400" b="1" u="sng" dirty="0"/>
          </a:p>
        </p:txBody>
      </p:sp>
      <p:graphicFrame>
        <p:nvGraphicFramePr>
          <p:cNvPr id="5" name="Table 4">
            <a:extLst>
              <a:ext uri="{FF2B5EF4-FFF2-40B4-BE49-F238E27FC236}">
                <a16:creationId xmlns:a16="http://schemas.microsoft.com/office/drawing/2014/main" id="{095CA33A-34A0-36DC-A3A5-197856DF97C9}"/>
              </a:ext>
            </a:extLst>
          </p:cNvPr>
          <p:cNvGraphicFramePr>
            <a:graphicFrameLocks noGrp="1"/>
          </p:cNvGraphicFramePr>
          <p:nvPr>
            <p:extLst>
              <p:ext uri="{D42A27DB-BD31-4B8C-83A1-F6EECF244321}">
                <p14:modId xmlns:p14="http://schemas.microsoft.com/office/powerpoint/2010/main" val="561981013"/>
              </p:ext>
            </p:extLst>
          </p:nvPr>
        </p:nvGraphicFramePr>
        <p:xfrm>
          <a:off x="98359" y="621711"/>
          <a:ext cx="12128721" cy="6776351"/>
        </p:xfrm>
        <a:graphic>
          <a:graphicData uri="http://schemas.openxmlformats.org/drawingml/2006/table">
            <a:tbl>
              <a:tblPr firstRow="1" bandRow="1">
                <a:tableStyleId>{5A111915-BE36-4E01-A7E5-04B1672EAD32}</a:tableStyleId>
              </a:tblPr>
              <a:tblGrid>
                <a:gridCol w="479743">
                  <a:extLst>
                    <a:ext uri="{9D8B030D-6E8A-4147-A177-3AD203B41FA5}">
                      <a16:colId xmlns:a16="http://schemas.microsoft.com/office/drawing/2014/main" val="20000"/>
                    </a:ext>
                  </a:extLst>
                </a:gridCol>
                <a:gridCol w="2135503">
                  <a:extLst>
                    <a:ext uri="{9D8B030D-6E8A-4147-A177-3AD203B41FA5}">
                      <a16:colId xmlns:a16="http://schemas.microsoft.com/office/drawing/2014/main" val="20001"/>
                    </a:ext>
                  </a:extLst>
                </a:gridCol>
                <a:gridCol w="1831673">
                  <a:extLst>
                    <a:ext uri="{9D8B030D-6E8A-4147-A177-3AD203B41FA5}">
                      <a16:colId xmlns:a16="http://schemas.microsoft.com/office/drawing/2014/main" val="20002"/>
                    </a:ext>
                  </a:extLst>
                </a:gridCol>
                <a:gridCol w="1815449">
                  <a:extLst>
                    <a:ext uri="{9D8B030D-6E8A-4147-A177-3AD203B41FA5}">
                      <a16:colId xmlns:a16="http://schemas.microsoft.com/office/drawing/2014/main" val="20003"/>
                    </a:ext>
                  </a:extLst>
                </a:gridCol>
                <a:gridCol w="2642089">
                  <a:extLst>
                    <a:ext uri="{9D8B030D-6E8A-4147-A177-3AD203B41FA5}">
                      <a16:colId xmlns:a16="http://schemas.microsoft.com/office/drawing/2014/main" val="20004"/>
                    </a:ext>
                  </a:extLst>
                </a:gridCol>
                <a:gridCol w="229447">
                  <a:extLst>
                    <a:ext uri="{9D8B030D-6E8A-4147-A177-3AD203B41FA5}">
                      <a16:colId xmlns:a16="http://schemas.microsoft.com/office/drawing/2014/main" val="20005"/>
                    </a:ext>
                  </a:extLst>
                </a:gridCol>
                <a:gridCol w="2994817">
                  <a:extLst>
                    <a:ext uri="{9D8B030D-6E8A-4147-A177-3AD203B41FA5}">
                      <a16:colId xmlns:a16="http://schemas.microsoft.com/office/drawing/2014/main" val="20006"/>
                    </a:ext>
                  </a:extLst>
                </a:gridCol>
              </a:tblGrid>
              <a:tr h="970311">
                <a:tc>
                  <a:txBody>
                    <a:bodyPr/>
                    <a:lstStyle/>
                    <a:p>
                      <a:pPr algn="ctr"/>
                      <a:r>
                        <a:rPr lang="en-US" sz="1300" dirty="0">
                          <a:latin typeface="+mn-lt"/>
                        </a:rPr>
                        <a:t>S/N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Description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Motivation</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Objective(s)</a:t>
                      </a:r>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Methodology</a:t>
                      </a:r>
                      <a:endParaRPr lang="en-US" sz="1300" dirty="0">
                        <a:solidFill>
                          <a:schemeClr val="bg1"/>
                        </a:solidFill>
                        <a:latin typeface="+mn-lt"/>
                        <a:cs typeface="Times New Roman" panose="02020603050405020304" pitchFamily="18" charset="0"/>
                      </a:endParaRPr>
                    </a:p>
                  </a:txBody>
                  <a:tcPr/>
                </a:tc>
                <a:tc>
                  <a:txBody>
                    <a:bodyPr/>
                    <a:lstStyle/>
                    <a:p>
                      <a:endParaRPr lang="en-US" sz="1300" dirty="0">
                        <a:solidFill>
                          <a:schemeClr val="bg1"/>
                        </a:solidFill>
                        <a:latin typeface="+mn-lt"/>
                        <a:cs typeface="Times New Roman" panose="02020603050405020304" pitchFamily="18" charset="0"/>
                      </a:endParaRPr>
                    </a:p>
                  </a:txBody>
                  <a:tcPr/>
                </a:tc>
                <a:tc>
                  <a:txBody>
                    <a:bodyPr/>
                    <a:lstStyle/>
                    <a:p>
                      <a:r>
                        <a:rPr lang="en-US" sz="1300" dirty="0">
                          <a:latin typeface="+mn-lt"/>
                        </a:rPr>
                        <a:t>Limitation(s)</a:t>
                      </a:r>
                      <a:endParaRPr lang="en-US" sz="1300" dirty="0">
                        <a:solidFill>
                          <a:schemeClr val="bg1"/>
                        </a:solidFill>
                        <a:latin typeface="+mn-lt"/>
                        <a:cs typeface="Times New Roman" panose="02020603050405020304" pitchFamily="18" charset="0"/>
                      </a:endParaRPr>
                    </a:p>
                  </a:txBody>
                  <a:tcPr/>
                </a:tc>
                <a:extLst>
                  <a:ext uri="{0D108BD9-81ED-4DB2-BD59-A6C34878D82A}">
                    <a16:rowId xmlns:a16="http://schemas.microsoft.com/office/drawing/2014/main" val="10000"/>
                  </a:ext>
                </a:extLst>
              </a:tr>
              <a:tr h="2529840">
                <a:tc>
                  <a:txBody>
                    <a:bodyPr/>
                    <a:lstStyle/>
                    <a:p>
                      <a:r>
                        <a:rPr lang="en-US" sz="1300" dirty="0">
                          <a:latin typeface="+mn-lt"/>
                        </a:rPr>
                        <a:t>5</a:t>
                      </a:r>
                      <a:endParaRPr lang="en-US" sz="1300" dirty="0">
                        <a:solidFill>
                          <a:schemeClr val="bg1"/>
                        </a:solidFill>
                        <a:latin typeface="+mn-lt"/>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kern="1200" dirty="0">
                          <a:solidFill>
                            <a:schemeClr val="tx1"/>
                          </a:solidFill>
                          <a:effectLst/>
                          <a:latin typeface=" Arial"/>
                          <a:ea typeface="+mn-ea"/>
                          <a:cs typeface="+mn-cs"/>
                        </a:rPr>
                        <a:t>Biplob </a:t>
                      </a:r>
                      <a:r>
                        <a:rPr lang="en-US" sz="1300" i="1" kern="1200" dirty="0">
                          <a:solidFill>
                            <a:schemeClr val="tx1"/>
                          </a:solidFill>
                          <a:effectLst/>
                          <a:latin typeface=" Arial"/>
                          <a:ea typeface="+mn-ea"/>
                          <a:cs typeface="+mn-cs"/>
                        </a:rPr>
                        <a:t>et al</a:t>
                      </a:r>
                      <a:r>
                        <a:rPr lang="en-US" sz="1300" kern="1200" dirty="0">
                          <a:solidFill>
                            <a:schemeClr val="tx1"/>
                          </a:solidFill>
                          <a:effectLst/>
                          <a:latin typeface=" Arial"/>
                          <a:ea typeface="+mn-ea"/>
                          <a:cs typeface="+mn-cs"/>
                        </a:rPr>
                        <a:t>., (2022). Comparative performance of four CNN-based deep learning variants in detecting two fungal diseases in Rice</a:t>
                      </a:r>
                      <a:r>
                        <a:rPr lang="en-US" sz="1300" b="0" i="0" u="none" strike="noStrike" cap="none" dirty="0">
                          <a:solidFill>
                            <a:schemeClr val="tx1"/>
                          </a:solidFill>
                          <a:effectLst/>
                          <a:latin typeface=" Arial"/>
                          <a:ea typeface="+mn-ea"/>
                          <a:cs typeface="Arial" panose="020B0604020202020204" pitchFamily="34" charset="0"/>
                          <a:sym typeface="Arial"/>
                        </a:rPr>
                        <a:t>.</a:t>
                      </a:r>
                      <a:endParaRPr lang="en-US" sz="1300" dirty="0">
                        <a:solidFill>
                          <a:schemeClr val="bg1"/>
                        </a:solidFill>
                        <a:latin typeface=" Arial"/>
                        <a:cs typeface="Arial" panose="020B0604020202020204" pitchFamily="34" charset="0"/>
                      </a:endParaRPr>
                    </a:p>
                  </a:txBody>
                  <a:tcPr/>
                </a:tc>
                <a:tc>
                  <a:txBody>
                    <a:bodyPr/>
                    <a:lstStyle/>
                    <a:p>
                      <a:pPr lvl="0"/>
                      <a:r>
                        <a:rPr lang="en-US" sz="1300" kern="1200" dirty="0">
                          <a:solidFill>
                            <a:schemeClr val="tx1"/>
                          </a:solidFill>
                          <a:effectLst/>
                          <a:latin typeface=" Arial"/>
                          <a:ea typeface="+mn-ea"/>
                          <a:cs typeface="+mn-cs"/>
                        </a:rPr>
                        <a:t>1. Decrease in the yield of rice in Asia due to these fungal.</a:t>
                      </a:r>
                      <a:endParaRPr lang="en-NG" sz="1300" kern="1200" dirty="0">
                        <a:solidFill>
                          <a:schemeClr val="tx1"/>
                        </a:solidFill>
                        <a:effectLst/>
                        <a:latin typeface=" Arial"/>
                        <a:ea typeface="+mn-ea"/>
                        <a:cs typeface="+mn-cs"/>
                      </a:endParaRPr>
                    </a:p>
                    <a:p>
                      <a:pPr lvl="0"/>
                      <a:r>
                        <a:rPr lang="en-US" sz="1300" kern="1200" dirty="0">
                          <a:solidFill>
                            <a:schemeClr val="tx1"/>
                          </a:solidFill>
                          <a:effectLst/>
                          <a:latin typeface=" Arial"/>
                          <a:ea typeface="+mn-ea"/>
                          <a:cs typeface="+mn-cs"/>
                        </a:rPr>
                        <a:t>2. Integration of AI  and rapid technological development in the Agricultural domain.</a:t>
                      </a:r>
                      <a:endParaRPr lang="en-NG" sz="1300" kern="1200" dirty="0">
                        <a:solidFill>
                          <a:schemeClr val="tx1"/>
                        </a:solidFill>
                        <a:effectLst/>
                        <a:latin typeface=" Arial"/>
                        <a:ea typeface="+mn-ea"/>
                        <a:cs typeface="+mn-cs"/>
                      </a:endParaRPr>
                    </a:p>
                  </a:txBody>
                  <a:tcPr/>
                </a:tc>
                <a:tc>
                  <a:txBody>
                    <a:bodyPr/>
                    <a:lstStyle/>
                    <a:p>
                      <a:r>
                        <a:rPr lang="en-US" sz="1300" kern="1200" dirty="0">
                          <a:solidFill>
                            <a:schemeClr val="tx1"/>
                          </a:solidFill>
                          <a:effectLst/>
                          <a:latin typeface=" Arial"/>
                          <a:ea typeface="+mn-ea"/>
                          <a:cs typeface="+mn-cs"/>
                        </a:rPr>
                        <a:t>Evaluation of the comparative performance of a basic CNN and four advance CNN models in detecting various diseases in rice.</a:t>
                      </a:r>
                      <a:endParaRPr lang="en-NG" sz="1300" kern="1200" dirty="0">
                        <a:solidFill>
                          <a:schemeClr val="tx1"/>
                        </a:solidFill>
                        <a:effectLst/>
                        <a:latin typeface=" Arial"/>
                        <a:ea typeface="+mn-ea"/>
                        <a:cs typeface="+mn-cs"/>
                      </a:endParaRPr>
                    </a:p>
                  </a:txBody>
                  <a:tcPr/>
                </a:tc>
                <a:tc>
                  <a:txBody>
                    <a:bodyPr/>
                    <a:lstStyle/>
                    <a:p>
                      <a:r>
                        <a:rPr lang="en-US" sz="1300" kern="1200" dirty="0">
                          <a:solidFill>
                            <a:schemeClr val="tx1"/>
                          </a:solidFill>
                          <a:effectLst/>
                          <a:latin typeface=" Arial"/>
                          <a:ea typeface="+mn-ea"/>
                          <a:cs typeface="+mn-cs"/>
                        </a:rPr>
                        <a:t>A total of 2892 leaf images were acquired, 800 were real life datasets while the others were gotten from an online source. The collected dataset were resized to 256 * 256 pixel height and width. The author made use of a five convolutional layer and an average pooling layer for predicting seven classes of maize leaves.</a:t>
                      </a:r>
                      <a:endParaRPr lang="en-NG" sz="1300" kern="1200" dirty="0">
                        <a:solidFill>
                          <a:schemeClr val="tx1"/>
                        </a:solidFill>
                        <a:effectLst/>
                        <a:latin typeface=" Arial"/>
                        <a:ea typeface="+mn-ea"/>
                        <a:cs typeface="+mn-cs"/>
                      </a:endParaRPr>
                    </a:p>
                  </a:txBody>
                  <a:tcPr/>
                </a:tc>
                <a:tc>
                  <a:txBody>
                    <a:bodyPr/>
                    <a:lstStyle/>
                    <a:p>
                      <a:endParaRPr lang="en-US" sz="1300" b="0" i="0" u="none" strike="noStrike" cap="none" dirty="0">
                        <a:solidFill>
                          <a:schemeClr val="tx1"/>
                        </a:solidFill>
                        <a:effectLst/>
                        <a:latin typeface=" Arial"/>
                        <a:ea typeface="+mn-ea"/>
                        <a:cs typeface="Arial" panose="020B0604020202020204" pitchFamily="34" charset="0"/>
                        <a:sym typeface="Arial"/>
                      </a:endParaRPr>
                    </a:p>
                  </a:txBody>
                  <a:tcPr/>
                </a:tc>
                <a:tc>
                  <a:txBody>
                    <a:bodyPr/>
                    <a:lstStyle/>
                    <a:p>
                      <a:r>
                        <a:rPr lang="en-US" sz="1300" kern="1200" dirty="0">
                          <a:solidFill>
                            <a:schemeClr val="tx1"/>
                          </a:solidFill>
                          <a:effectLst/>
                          <a:latin typeface=" Arial"/>
                          <a:ea typeface="+mn-ea"/>
                          <a:cs typeface="+mn-cs"/>
                        </a:rPr>
                        <a:t>It was observed that it the authors only resized the images and use no preprocessing techniques which could improve the accuracy of the model.</a:t>
                      </a:r>
                      <a:endParaRPr lang="en-NG" sz="1300" kern="1200" dirty="0">
                        <a:solidFill>
                          <a:schemeClr val="tx1"/>
                        </a:solidFill>
                        <a:effectLst/>
                        <a:latin typeface=" Arial"/>
                        <a:ea typeface="+mn-ea"/>
                        <a:cs typeface="+mn-cs"/>
                      </a:endParaRPr>
                    </a:p>
                    <a:p>
                      <a:pPr marL="0" indent="0">
                        <a:buNone/>
                      </a:pPr>
                      <a:endParaRPr lang="en-US" sz="1300" b="0" i="0" u="none" strike="noStrike" cap="none" dirty="0">
                        <a:solidFill>
                          <a:schemeClr val="tx1"/>
                        </a:solidFill>
                        <a:effectLst/>
                        <a:latin typeface=" Arial"/>
                        <a:ea typeface="+mn-ea"/>
                        <a:cs typeface="Arial" panose="020B0604020202020204" pitchFamily="34" charset="0"/>
                        <a:sym typeface="Arial"/>
                      </a:endParaRPr>
                    </a:p>
                  </a:txBody>
                  <a:tcPr/>
                </a:tc>
                <a:extLst>
                  <a:ext uri="{0D108BD9-81ED-4DB2-BD59-A6C34878D82A}">
                    <a16:rowId xmlns:a16="http://schemas.microsoft.com/office/drawing/2014/main" val="10001"/>
                  </a:ext>
                </a:extLst>
              </a:tr>
              <a:tr h="2375920">
                <a:tc>
                  <a:txBody>
                    <a:bodyPr/>
                    <a:lstStyle/>
                    <a:p>
                      <a:r>
                        <a:rPr lang="en-US" sz="1300" dirty="0">
                          <a:solidFill>
                            <a:schemeClr val="tx1"/>
                          </a:solidFill>
                          <a:latin typeface="+mn-lt"/>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t>Haque</a:t>
                      </a:r>
                      <a:r>
                        <a:rPr lang="en-US" sz="14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r>
                        <a:rPr lang="en-US" sz="1400" b="0" i="1" u="none" strike="noStrike" cap="none" dirty="0">
                          <a:solidFill>
                            <a:schemeClr val="tx1"/>
                          </a:solidFill>
                          <a:effectLst/>
                          <a:latin typeface="Arial" panose="020B0604020202020204" pitchFamily="34" charset="0"/>
                          <a:ea typeface="+mn-ea"/>
                          <a:cs typeface="Arial" panose="020B0604020202020204" pitchFamily="34" charset="0"/>
                          <a:sym typeface="Arial"/>
                        </a:rPr>
                        <a:t>et al</a:t>
                      </a:r>
                      <a:r>
                        <a:rPr lang="en-US" sz="1400" b="0" i="0" u="none" strike="noStrike" cap="none" dirty="0">
                          <a:solidFill>
                            <a:schemeClr val="tx1"/>
                          </a:solidFill>
                          <a:effectLst/>
                          <a:latin typeface="Arial" panose="020B0604020202020204" pitchFamily="34" charset="0"/>
                          <a:ea typeface="+mn-ea"/>
                          <a:cs typeface="Arial" panose="020B0604020202020204" pitchFamily="34" charset="0"/>
                          <a:sym typeface="Arial"/>
                        </a:rPr>
                        <a:t>., (2019). </a:t>
                      </a:r>
                      <a:r>
                        <a:rPr lang="en-US" sz="1600" dirty="0"/>
                        <a:t>Deep learning‑based approach for identification of diseases of maize crop</a:t>
                      </a:r>
                      <a:endParaRPr lang="en-US" sz="1400" dirty="0">
                        <a:solidFill>
                          <a:schemeClr val="bg1"/>
                        </a:solidFill>
                        <a:latin typeface="Arial" panose="020B0604020202020204" pitchFamily="34" charset="0"/>
                        <a:cs typeface="Arial" panose="020B0604020202020204" pitchFamily="34" charset="0"/>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dirty="0">
                          <a:latin typeface="Arial" panose="020B0604020202020204" pitchFamily="34" charset="0"/>
                          <a:cs typeface="Arial" panose="020B0604020202020204" pitchFamily="34" charset="0"/>
                        </a:rPr>
                        <a:t>The important of maize to the authors country’s agriculture sector.</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dirty="0">
                          <a:latin typeface="Arial" panose="020B0604020202020204" pitchFamily="34" charset="0"/>
                          <a:cs typeface="Arial" panose="020B0604020202020204" pitchFamily="34" charset="0"/>
                        </a:rPr>
                        <a:t>The impact of these diseases caused a increase in the reduced yield of maize.</a:t>
                      </a:r>
                    </a:p>
                  </a:txBody>
                  <a:tcPr/>
                </a:tc>
                <a:tc>
                  <a:txBody>
                    <a:bodyPr/>
                    <a:lstStyle/>
                    <a:p>
                      <a:pPr marL="342900" indent="-342900">
                        <a:buAutoNum type="arabicPeriod"/>
                      </a:pPr>
                      <a:r>
                        <a:rPr lang="en-US" sz="1300" b="0" i="0" kern="1200" dirty="0">
                          <a:solidFill>
                            <a:schemeClr val="tx1"/>
                          </a:solidFill>
                          <a:effectLst/>
                          <a:latin typeface=" Arial"/>
                          <a:ea typeface="+mn-ea"/>
                          <a:cs typeface="+mn-cs"/>
                        </a:rPr>
                        <a:t>Develop a Deep Learning Model</a:t>
                      </a:r>
                      <a:r>
                        <a:rPr lang="en-US" sz="1300" b="0" i="0" u="none" strike="noStrike" kern="1200" cap="none" dirty="0">
                          <a:solidFill>
                            <a:schemeClr val="tx1"/>
                          </a:solidFill>
                          <a:effectLst/>
                          <a:latin typeface=" Arial"/>
                          <a:ea typeface="+mn-ea"/>
                          <a:cs typeface="Arial" panose="020B0604020202020204" pitchFamily="34" charset="0"/>
                          <a:sym typeface="Arial"/>
                        </a:rPr>
                        <a:t> for maize diseases detection using imaging.</a:t>
                      </a:r>
                      <a:endParaRPr lang="en-US" sz="1300" b="0" i="0" u="none" strike="noStrike" cap="none" dirty="0">
                        <a:solidFill>
                          <a:schemeClr val="tx1"/>
                        </a:solidFill>
                        <a:effectLst/>
                        <a:latin typeface=" Arial"/>
                        <a:ea typeface="+mn-ea"/>
                        <a:cs typeface="Arial" panose="020B0604020202020204" pitchFamily="34" charset="0"/>
                        <a:sym typeface="Arial"/>
                      </a:endParaRPr>
                    </a:p>
                    <a:p>
                      <a:pPr marL="342900" indent="-342900">
                        <a:buAutoNum type="arabicPeriod"/>
                      </a:pPr>
                      <a:r>
                        <a:rPr lang="en-US" sz="1300" b="0" i="0" kern="1200" dirty="0">
                          <a:solidFill>
                            <a:schemeClr val="tx1"/>
                          </a:solidFill>
                          <a:effectLst/>
                          <a:latin typeface=" Arial"/>
                          <a:ea typeface="+mn-ea"/>
                          <a:cs typeface="+mn-cs"/>
                        </a:rPr>
                        <a:t>Comparison with Pre-trained Models</a:t>
                      </a:r>
                      <a:r>
                        <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rPr>
                        <a:t>.</a:t>
                      </a:r>
                    </a:p>
                  </a:txBody>
                  <a:tcPr/>
                </a:tc>
                <a:tc>
                  <a:txBody>
                    <a:bodyPr/>
                    <a:lstStyle/>
                    <a:p>
                      <a:r>
                        <a:rPr lang="en-US" sz="1300" b="0" i="0" kern="1200" dirty="0">
                          <a:solidFill>
                            <a:schemeClr val="tx1"/>
                          </a:solidFill>
                          <a:effectLst/>
                          <a:latin typeface=" Arial"/>
                          <a:ea typeface="+mn-ea"/>
                          <a:cs typeface="+mn-cs"/>
                        </a:rPr>
                        <a:t>Images of maize crops were captured from experimental fields, targeting three specific diseases: MLB, TLB, and Banded Leaf and Sheath Blight (BLSB)</a:t>
                      </a:r>
                      <a:r>
                        <a:rPr lang="en-US" sz="1300" b="0" i="0" u="none" strike="noStrike" cap="none" dirty="0">
                          <a:solidFill>
                            <a:schemeClr val="tx1"/>
                          </a:solidFill>
                          <a:effectLst/>
                          <a:latin typeface=" Arial"/>
                          <a:ea typeface="+mn-ea"/>
                          <a:cs typeface="Arial" panose="020B0604020202020204" pitchFamily="34" charset="0"/>
                          <a:sym typeface="Arial"/>
                        </a:rPr>
                        <a:t>. </a:t>
                      </a:r>
                      <a:r>
                        <a:rPr lang="en-US" sz="1300" b="0" i="0" kern="1200" dirty="0">
                          <a:solidFill>
                            <a:schemeClr val="tx1"/>
                          </a:solidFill>
                          <a:effectLst/>
                          <a:latin typeface=" Arial"/>
                          <a:ea typeface="+mn-ea"/>
                          <a:cs typeface="+mn-cs"/>
                        </a:rPr>
                        <a:t>Various deep learning models, including Inception-v3, were trained using different data configurations. The models were evaluated based on their classification accuracy and computational efficiency</a:t>
                      </a:r>
                      <a:endParaRPr lang="en-US" sz="1300" b="0" i="0" u="none" strike="noStrike" cap="none" dirty="0">
                        <a:solidFill>
                          <a:schemeClr val="tx1"/>
                        </a:solidFill>
                        <a:effectLst/>
                        <a:latin typeface=" Arial"/>
                        <a:ea typeface="+mn-ea"/>
                        <a:cs typeface="Arial" panose="020B0604020202020204" pitchFamily="34" charset="0"/>
                        <a:sym typeface="Arial"/>
                      </a:endParaRPr>
                    </a:p>
                  </a:txBody>
                  <a:tcPr/>
                </a:tc>
                <a:tc>
                  <a:txBody>
                    <a:bodyPr/>
                    <a:lstStyle/>
                    <a:p>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tc>
                  <a:txBody>
                    <a:bodyPr/>
                    <a:lstStyle/>
                    <a:p>
                      <a:pPr marL="342900" indent="-342900">
                        <a:buAutoNum type="arabicPeriod"/>
                      </a:pPr>
                      <a:r>
                        <a:rPr lang="en-US" sz="1400" b="0" i="0" kern="1200" dirty="0">
                          <a:solidFill>
                            <a:schemeClr val="tx1"/>
                          </a:solidFill>
                          <a:effectLst/>
                          <a:latin typeface=" Arial"/>
                          <a:ea typeface="+mn-ea"/>
                          <a:cs typeface="+mn-cs"/>
                        </a:rPr>
                        <a:t>Computational Cos</a:t>
                      </a:r>
                    </a:p>
                    <a:p>
                      <a:pPr marL="342900" indent="-342900">
                        <a:buAutoNum type="arabicPeriod"/>
                      </a:pPr>
                      <a:r>
                        <a:rPr lang="en-US" sz="1400" b="0" i="0" kern="1200" dirty="0">
                          <a:solidFill>
                            <a:schemeClr val="tx1"/>
                          </a:solidFill>
                          <a:effectLst/>
                          <a:latin typeface=" Arial"/>
                          <a:ea typeface="+mn-ea"/>
                          <a:cs typeface="+mn-cs"/>
                        </a:rPr>
                        <a:t>Class Confusion</a:t>
                      </a:r>
                    </a:p>
                    <a:p>
                      <a:pPr marL="342900" indent="-342900">
                        <a:buAutoNum type="arabicPeriod"/>
                      </a:pPr>
                      <a:r>
                        <a:rPr lang="en-US" sz="1400" b="0" i="0" kern="1200" dirty="0">
                          <a:solidFill>
                            <a:schemeClr val="tx1"/>
                          </a:solidFill>
                          <a:effectLst/>
                          <a:latin typeface=" Arial"/>
                          <a:ea typeface="+mn-ea"/>
                          <a:cs typeface="+mn-cs"/>
                        </a:rPr>
                        <a:t>Need for Large Dataset</a:t>
                      </a:r>
                      <a:r>
                        <a:rPr lang="en-US" sz="1400" b="0" i="0" u="none" strike="noStrike" cap="none" dirty="0">
                          <a:solidFill>
                            <a:schemeClr val="tx1"/>
                          </a:solidFill>
                          <a:effectLst/>
                          <a:latin typeface=" Arial"/>
                          <a:ea typeface="+mn-ea"/>
                          <a:cs typeface="Arial" panose="020B0604020202020204" pitchFamily="34" charset="0"/>
                          <a:sym typeface="Arial"/>
                        </a:rPr>
                        <a:t>.</a:t>
                      </a:r>
                    </a:p>
                    <a:p>
                      <a:pPr marL="0" indent="0">
                        <a:buNone/>
                      </a:pPr>
                      <a:endParaRPr lang="en-US" sz="13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a:tc>
                <a:extLst>
                  <a:ext uri="{0D108BD9-81ED-4DB2-BD59-A6C34878D82A}">
                    <a16:rowId xmlns:a16="http://schemas.microsoft.com/office/drawing/2014/main" val="10002"/>
                  </a:ext>
                </a:extLst>
              </a:tr>
              <a:tr h="403660">
                <a:tc>
                  <a:txBody>
                    <a:bodyPr/>
                    <a:lstStyle/>
                    <a:p>
                      <a:endParaRPr lang="en-US" sz="1300" dirty="0">
                        <a:solidFill>
                          <a:schemeClr val="bg1"/>
                        </a:solidFill>
                        <a:latin typeface="+mn-lt"/>
                        <a:cs typeface="Times New Roman" panose="02020603050405020304" pitchFamily="18" charset="0"/>
                      </a:endParaRPr>
                    </a:p>
                  </a:txBody>
                  <a:tcPr/>
                </a:tc>
                <a:tc rowSpan="2" gridSpan="6">
                  <a:txBody>
                    <a:bodyPr/>
                    <a:lstStyle/>
                    <a:p>
                      <a:pPr marL="0" indent="0" algn="just">
                        <a:buNone/>
                      </a:pPr>
                      <a:endParaRPr lang="en-US" sz="1300" dirty="0">
                        <a:solidFill>
                          <a:schemeClr val="bg1"/>
                        </a:solidFill>
                        <a:latin typeface="+mn-lt"/>
                        <a:cs typeface="Times New Roman" panose="02020603050405020304" pitchFamily="18" charset="0"/>
                      </a:endParaRPr>
                    </a:p>
                  </a:txBody>
                  <a:tcPr/>
                </a:tc>
                <a:tc rowSpan="2" hMerge="1">
                  <a:txBody>
                    <a:bodyPr/>
                    <a:lstStyle/>
                    <a:p>
                      <a:pPr marL="0" indent="0" algn="just">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pPr algn="l">
                        <a:buFont typeface="Arial" panose="020B0604020202020204" pitchFamily="34" charset="0"/>
                        <a:buNone/>
                      </a:pPr>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rowSpan="2" h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3"/>
                  </a:ext>
                </a:extLst>
              </a:tr>
              <a:tr h="403660">
                <a:tc>
                  <a:txBody>
                    <a:bodyPr/>
                    <a:lstStyle/>
                    <a:p>
                      <a:endParaRPr lang="en-US" sz="1300" dirty="0">
                        <a:solidFill>
                          <a:schemeClr val="bg1"/>
                        </a:solidFill>
                        <a:latin typeface="+mn-lt"/>
                        <a:cs typeface="Times New Roman" panose="02020603050405020304" pitchFamily="18" charset="0"/>
                      </a:endParaRPr>
                    </a:p>
                  </a:txBody>
                  <a:tcPr/>
                </a:tc>
                <a:tc gridSpan="6"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b="1"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tc hMerge="1" vMerge="1">
                  <a:txBody>
                    <a:bodyPr/>
                    <a:lstStyle/>
                    <a:p>
                      <a:endParaRPr lang="en-US" sz="1000" dirty="0">
                        <a:solidFill>
                          <a:schemeClr val="bg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63611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ED21B-18F9-48D7-B021-84C3C45AFC22}"/>
              </a:ext>
            </a:extLst>
          </p:cNvPr>
          <p:cNvSpPr>
            <a:spLocks noGrp="1"/>
          </p:cNvSpPr>
          <p:nvPr>
            <p:ph type="title"/>
          </p:nvPr>
        </p:nvSpPr>
        <p:spPr>
          <a:xfrm>
            <a:off x="372155" y="147918"/>
            <a:ext cx="10597469" cy="447827"/>
          </a:xfrm>
        </p:spPr>
        <p:txBody>
          <a:bodyPr>
            <a:normAutofit fontScale="90000"/>
          </a:bodyPr>
          <a:lstStyle/>
          <a:p>
            <a:r>
              <a:rPr lang="en-US" dirty="0">
                <a:solidFill>
                  <a:srgbClr val="00B050"/>
                </a:solidFill>
              </a:rPr>
              <a:t>              </a:t>
            </a:r>
            <a:r>
              <a:rPr lang="en-US" b="1" dirty="0">
                <a:solidFill>
                  <a:srgbClr val="00B050"/>
                </a:solidFill>
                <a:latin typeface="Arial" panose="020B0604020202020204" pitchFamily="34" charset="0"/>
                <a:cs typeface="Arial" panose="020B0604020202020204" pitchFamily="34" charset="0"/>
              </a:rPr>
              <a:t>RESEARCH METHODOLOGY</a:t>
            </a:r>
            <a:endParaRPr lang="en-NG" b="1" dirty="0">
              <a:solidFill>
                <a:srgbClr val="00B050"/>
              </a:solidFill>
              <a:latin typeface="Arial" panose="020B0604020202020204" pitchFamily="34" charset="0"/>
              <a:cs typeface="Arial" panose="020B0604020202020204" pitchFamily="34" charset="0"/>
            </a:endParaRPr>
          </a:p>
        </p:txBody>
      </p:sp>
      <p:pic>
        <p:nvPicPr>
          <p:cNvPr id="6" name="Picture Placeholder 5">
            <a:extLst>
              <a:ext uri="{FF2B5EF4-FFF2-40B4-BE49-F238E27FC236}">
                <a16:creationId xmlns:a16="http://schemas.microsoft.com/office/drawing/2014/main" id="{CB4C7628-453A-48B3-8C91-7389D94D390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9300" r="9300"/>
          <a:stretch>
            <a:fillRect/>
          </a:stretch>
        </p:blipFill>
        <p:spPr>
          <a:xfrm>
            <a:off x="9292648" y="752763"/>
            <a:ext cx="2327275" cy="2859088"/>
          </a:xfrm>
        </p:spPr>
      </p:pic>
      <p:sp>
        <p:nvSpPr>
          <p:cNvPr id="4" name="Text Placeholder 3">
            <a:extLst>
              <a:ext uri="{FF2B5EF4-FFF2-40B4-BE49-F238E27FC236}">
                <a16:creationId xmlns:a16="http://schemas.microsoft.com/office/drawing/2014/main" id="{1ECABED9-06CA-4298-ADC3-CC00D8963D5D}"/>
              </a:ext>
            </a:extLst>
          </p:cNvPr>
          <p:cNvSpPr>
            <a:spLocks noGrp="1"/>
          </p:cNvSpPr>
          <p:nvPr>
            <p:ph type="body" sz="half" idx="2"/>
          </p:nvPr>
        </p:nvSpPr>
        <p:spPr>
          <a:xfrm>
            <a:off x="362857" y="595745"/>
            <a:ext cx="8577943" cy="6008255"/>
          </a:xfrm>
        </p:spPr>
        <p:txBody>
          <a:bodyPr>
            <a:normAutofit fontScale="70000" lnSpcReduction="20000"/>
          </a:bodyPr>
          <a:lstStyle/>
          <a:p>
            <a:r>
              <a:rPr lang="en-US" sz="2100" b="1"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Data collection</a:t>
            </a:r>
          </a:p>
          <a:p>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Data Pre-processing</a:t>
            </a:r>
            <a:r>
              <a:rPr lang="en-US" sz="29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                                        </a:t>
            </a:r>
          </a:p>
          <a:p>
            <a:r>
              <a:rPr lang="en-US" sz="2000" b="1"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Model Development </a:t>
            </a:r>
            <a:endParaRPr lang="en-US" sz="29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p>
          <a:p>
            <a:pPr>
              <a:lnSpc>
                <a:spcPct val="220000"/>
              </a:lnSpc>
            </a:pPr>
            <a:r>
              <a:rPr lang="en-US" sz="2000" b="1"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Model Training</a:t>
            </a:r>
          </a:p>
          <a:p>
            <a:pPr>
              <a:lnSpc>
                <a:spcPct val="220000"/>
              </a:lnSpc>
            </a:pPr>
            <a:r>
              <a:rPr lang="en-US" sz="2000" dirty="0">
                <a:latin typeface="Arial" panose="020B0604020202020204" pitchFamily="34" charset="0"/>
                <a:cs typeface="Arial" panose="020B0604020202020204" pitchFamily="34" charset="0"/>
              </a:rPr>
              <a:t>                                   </a:t>
            </a:r>
          </a:p>
          <a:p>
            <a:pPr>
              <a:lnSpc>
                <a:spcPct val="170000"/>
              </a:lnSpc>
            </a:pPr>
            <a:r>
              <a:rPr lang="en-US" sz="2000"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Model Classification</a:t>
            </a:r>
          </a:p>
          <a:p>
            <a:pPr>
              <a:lnSpc>
                <a:spcPct val="170000"/>
              </a:lnSpc>
            </a:pPr>
            <a:endParaRPr lang="en-US" sz="2000" dirty="0">
              <a:latin typeface="Arial" panose="020B0604020202020204" pitchFamily="34" charset="0"/>
              <a:cs typeface="Arial" panose="020B0604020202020204" pitchFamily="34" charset="0"/>
            </a:endParaRPr>
          </a:p>
          <a:p>
            <a:pPr>
              <a:lnSpc>
                <a:spcPct val="170000"/>
              </a:lnSpc>
            </a:pPr>
            <a:r>
              <a:rPr lang="en-US" sz="2000" dirty="0">
                <a:latin typeface="Arial" panose="020B0604020202020204" pitchFamily="34" charset="0"/>
                <a:cs typeface="Arial" panose="020B0604020202020204" pitchFamily="34" charset="0"/>
              </a:rPr>
              <a:t>                                                 </a:t>
            </a:r>
            <a:r>
              <a:rPr lang="en-US" sz="2900" b="1" dirty="0">
                <a:latin typeface="Arial" panose="020B0604020202020204" pitchFamily="34" charset="0"/>
                <a:cs typeface="Arial" panose="020B0604020202020204" pitchFamily="34" charset="0"/>
              </a:rPr>
              <a:t>Evaluation Metrics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                                        </a:t>
            </a:r>
          </a:p>
          <a:p>
            <a:endParaRPr lang="en-NG" sz="20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A20C448-0BB5-49EF-92C0-197CFB86343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8000" contrast="5000"/>
                    </a14:imgEffect>
                  </a14:imgLayer>
                </a14:imgProps>
              </a:ext>
              <a:ext uri="{28A0092B-C50C-407E-A947-70E740481C1C}">
                <a14:useLocalDpi xmlns:a14="http://schemas.microsoft.com/office/drawing/2010/main" val="0"/>
              </a:ext>
            </a:extLst>
          </a:blip>
          <a:stretch>
            <a:fillRect/>
          </a:stretch>
        </p:blipFill>
        <p:spPr>
          <a:xfrm>
            <a:off x="9292648" y="3747653"/>
            <a:ext cx="2327275" cy="2514602"/>
          </a:xfrm>
          <a:prstGeom prst="rect">
            <a:avLst/>
          </a:prstGeom>
        </p:spPr>
      </p:pic>
      <p:sp>
        <p:nvSpPr>
          <p:cNvPr id="3" name="Arrow: Down 2">
            <a:extLst>
              <a:ext uri="{FF2B5EF4-FFF2-40B4-BE49-F238E27FC236}">
                <a16:creationId xmlns:a16="http://schemas.microsoft.com/office/drawing/2014/main" id="{A3F759F6-9A97-43E4-A205-4CE71C27445D}"/>
              </a:ext>
            </a:extLst>
          </p:cNvPr>
          <p:cNvSpPr/>
          <p:nvPr/>
        </p:nvSpPr>
        <p:spPr>
          <a:xfrm>
            <a:off x="3535680" y="1803948"/>
            <a:ext cx="390860" cy="476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Arrow: Down 6">
            <a:extLst>
              <a:ext uri="{FF2B5EF4-FFF2-40B4-BE49-F238E27FC236}">
                <a16:creationId xmlns:a16="http://schemas.microsoft.com/office/drawing/2014/main" id="{A912C377-9177-482B-8129-F3545A9C0437}"/>
              </a:ext>
            </a:extLst>
          </p:cNvPr>
          <p:cNvSpPr/>
          <p:nvPr/>
        </p:nvSpPr>
        <p:spPr>
          <a:xfrm>
            <a:off x="3535680" y="963449"/>
            <a:ext cx="390860" cy="476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9" name="Arrow: Down 8">
            <a:extLst>
              <a:ext uri="{FF2B5EF4-FFF2-40B4-BE49-F238E27FC236}">
                <a16:creationId xmlns:a16="http://schemas.microsoft.com/office/drawing/2014/main" id="{A58B50D7-8094-4582-9C29-90407CFBEBF6}"/>
              </a:ext>
            </a:extLst>
          </p:cNvPr>
          <p:cNvSpPr/>
          <p:nvPr/>
        </p:nvSpPr>
        <p:spPr>
          <a:xfrm>
            <a:off x="3535680" y="3793444"/>
            <a:ext cx="390860" cy="476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0" name="Arrow: Down 9">
            <a:extLst>
              <a:ext uri="{FF2B5EF4-FFF2-40B4-BE49-F238E27FC236}">
                <a16:creationId xmlns:a16="http://schemas.microsoft.com/office/drawing/2014/main" id="{65A8B83C-CED0-4305-B7EA-6CF92FDBE12A}"/>
              </a:ext>
            </a:extLst>
          </p:cNvPr>
          <p:cNvSpPr/>
          <p:nvPr/>
        </p:nvSpPr>
        <p:spPr>
          <a:xfrm>
            <a:off x="3535680" y="5004954"/>
            <a:ext cx="390860" cy="476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1" name="Arrow: Down 10">
            <a:extLst>
              <a:ext uri="{FF2B5EF4-FFF2-40B4-BE49-F238E27FC236}">
                <a16:creationId xmlns:a16="http://schemas.microsoft.com/office/drawing/2014/main" id="{1E7BDE65-A822-423D-BEA1-C8927A471DB2}"/>
              </a:ext>
            </a:extLst>
          </p:cNvPr>
          <p:cNvSpPr/>
          <p:nvPr/>
        </p:nvSpPr>
        <p:spPr>
          <a:xfrm>
            <a:off x="3535680" y="2798696"/>
            <a:ext cx="390860" cy="4760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1573814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01C0-D8C0-4641-9FCA-3521041FD56E}"/>
              </a:ext>
            </a:extLst>
          </p:cNvPr>
          <p:cNvSpPr>
            <a:spLocks noGrp="1"/>
          </p:cNvSpPr>
          <p:nvPr>
            <p:ph type="title"/>
          </p:nvPr>
        </p:nvSpPr>
        <p:spPr>
          <a:xfrm>
            <a:off x="867497" y="155130"/>
            <a:ext cx="10091448" cy="780284"/>
          </a:xfrm>
        </p:spPr>
        <p:txBody>
          <a:bodyPr>
            <a:normAutofit fontScale="90000"/>
          </a:bodyPr>
          <a:lstStyle/>
          <a:p>
            <a:r>
              <a:rPr lang="en-US" sz="3600" b="1" dirty="0">
                <a:latin typeface="Arial" panose="020B0604020202020204" pitchFamily="34" charset="0"/>
                <a:cs typeface="Arial" panose="020B0604020202020204" pitchFamily="34" charset="0"/>
              </a:rPr>
              <a:t>        </a:t>
            </a:r>
            <a:r>
              <a:rPr lang="en-US" sz="3600" b="1" dirty="0">
                <a:solidFill>
                  <a:srgbClr val="00B050"/>
                </a:solidFill>
                <a:latin typeface="Arial" panose="020B0604020202020204" pitchFamily="34" charset="0"/>
                <a:cs typeface="Arial" panose="020B0604020202020204" pitchFamily="34" charset="0"/>
              </a:rPr>
              <a:t>RESEARCH METHODOLOGY CONT’D</a:t>
            </a:r>
            <a:br>
              <a:rPr lang="en-US" dirty="0"/>
            </a:br>
            <a:r>
              <a:rPr lang="en-US" dirty="0"/>
              <a:t>                                     </a:t>
            </a:r>
            <a:r>
              <a:rPr lang="en-US" sz="2800" b="1" u="sng" dirty="0">
                <a:latin typeface="Arial" panose="020B0604020202020204" pitchFamily="34" charset="0"/>
                <a:cs typeface="Arial" panose="020B0604020202020204" pitchFamily="34" charset="0"/>
              </a:rPr>
              <a:t>ARCHITECTURE</a:t>
            </a:r>
            <a:endParaRPr lang="en-NG" dirty="0"/>
          </a:p>
        </p:txBody>
      </p:sp>
      <p:sp>
        <p:nvSpPr>
          <p:cNvPr id="4" name="Text Placeholder 3">
            <a:extLst>
              <a:ext uri="{FF2B5EF4-FFF2-40B4-BE49-F238E27FC236}">
                <a16:creationId xmlns:a16="http://schemas.microsoft.com/office/drawing/2014/main" id="{9CA290DF-23EF-480D-80CB-860E6387A950}"/>
              </a:ext>
            </a:extLst>
          </p:cNvPr>
          <p:cNvSpPr>
            <a:spLocks noGrp="1"/>
          </p:cNvSpPr>
          <p:nvPr>
            <p:ph type="body" sz="half" idx="2"/>
          </p:nvPr>
        </p:nvSpPr>
        <p:spPr>
          <a:xfrm>
            <a:off x="277092" y="935412"/>
            <a:ext cx="11485418" cy="5687061"/>
          </a:xfrm>
        </p:spPr>
        <p:txBody>
          <a:bodyPr/>
          <a:lstStyle/>
          <a:p>
            <a:r>
              <a:rPr lang="en-US" dirty="0"/>
              <a:t>Architecture</a:t>
            </a:r>
            <a:endParaRPr lang="en-NG" dirty="0"/>
          </a:p>
        </p:txBody>
      </p:sp>
      <p:pic>
        <p:nvPicPr>
          <p:cNvPr id="5" name="Picture 4">
            <a:extLst>
              <a:ext uri="{FF2B5EF4-FFF2-40B4-BE49-F238E27FC236}">
                <a16:creationId xmlns:a16="http://schemas.microsoft.com/office/drawing/2014/main" id="{B6ED020F-CF6E-43F2-B44D-D3CB0A72901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2617" y="935412"/>
            <a:ext cx="11637816" cy="5767458"/>
          </a:xfrm>
          <a:prstGeom prst="rect">
            <a:avLst/>
          </a:prstGeom>
          <a:noFill/>
          <a:ln>
            <a:noFill/>
          </a:ln>
        </p:spPr>
      </p:pic>
    </p:spTree>
    <p:extLst>
      <p:ext uri="{BB962C8B-B14F-4D97-AF65-F5344CB8AC3E}">
        <p14:creationId xmlns:p14="http://schemas.microsoft.com/office/powerpoint/2010/main" val="251052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114B-1A4B-4A4F-A581-A6BE879774B3}"/>
              </a:ext>
            </a:extLst>
          </p:cNvPr>
          <p:cNvSpPr>
            <a:spLocks noGrp="1"/>
          </p:cNvSpPr>
          <p:nvPr>
            <p:ph type="title"/>
          </p:nvPr>
        </p:nvSpPr>
        <p:spPr>
          <a:xfrm>
            <a:off x="318655" y="48492"/>
            <a:ext cx="9268690" cy="838197"/>
          </a:xfrm>
        </p:spPr>
        <p:txBody>
          <a:bodyPr>
            <a:normAutofit/>
          </a:bodyPr>
          <a:lstStyle/>
          <a:p>
            <a:r>
              <a:rPr lang="en-US" dirty="0"/>
              <a:t>               </a:t>
            </a:r>
            <a:r>
              <a:rPr lang="en-US" sz="3000" b="1" dirty="0">
                <a:solidFill>
                  <a:srgbClr val="00B050"/>
                </a:solidFill>
                <a:latin typeface=" Arial"/>
                <a:cs typeface="Arial" panose="020B0604020202020204" pitchFamily="34" charset="0"/>
              </a:rPr>
              <a:t>RESEARCHER METHODOLOGY CONT’D</a:t>
            </a:r>
            <a:br>
              <a:rPr lang="en-US" sz="3000" dirty="0">
                <a:latin typeface=" Arial"/>
                <a:cs typeface="Arial" panose="020B0604020202020204" pitchFamily="34" charset="0"/>
              </a:rPr>
            </a:br>
            <a:r>
              <a:rPr lang="en-US" sz="1800" b="1" u="sng" dirty="0" err="1">
                <a:latin typeface=" Arial"/>
                <a:cs typeface="Arial" panose="020B0604020202020204" pitchFamily="34" charset="0"/>
              </a:rPr>
              <a:t>Log_CNN</a:t>
            </a:r>
            <a:r>
              <a:rPr lang="en-US" sz="1800" b="1" u="sng" dirty="0">
                <a:latin typeface=" Arial"/>
                <a:cs typeface="Arial" panose="020B0604020202020204" pitchFamily="34" charset="0"/>
              </a:rPr>
              <a:t> AND CLAHE_CNN ARCHITECTURE</a:t>
            </a:r>
            <a:endParaRPr lang="en-NG" sz="1800" b="1" u="sng" dirty="0">
              <a:latin typeface=" Arial"/>
              <a:cs typeface="Arial" panose="020B0604020202020204" pitchFamily="34" charset="0"/>
            </a:endParaRPr>
          </a:p>
        </p:txBody>
      </p:sp>
      <p:sp>
        <p:nvSpPr>
          <p:cNvPr id="4" name="Text Placeholder 3">
            <a:extLst>
              <a:ext uri="{FF2B5EF4-FFF2-40B4-BE49-F238E27FC236}">
                <a16:creationId xmlns:a16="http://schemas.microsoft.com/office/drawing/2014/main" id="{1512D4A3-7B32-4E41-8203-47006AF994E4}"/>
              </a:ext>
            </a:extLst>
          </p:cNvPr>
          <p:cNvSpPr>
            <a:spLocks noGrp="1"/>
          </p:cNvSpPr>
          <p:nvPr>
            <p:ph type="body" sz="half" idx="2"/>
          </p:nvPr>
        </p:nvSpPr>
        <p:spPr>
          <a:xfrm>
            <a:off x="221672" y="997528"/>
            <a:ext cx="11513127" cy="5541818"/>
          </a:xfrm>
        </p:spPr>
        <p:txBody>
          <a:bodyPr/>
          <a:lstStyle/>
          <a:p>
            <a:endParaRPr lang="en-NG" dirty="0"/>
          </a:p>
        </p:txBody>
      </p:sp>
      <p:pic>
        <p:nvPicPr>
          <p:cNvPr id="5" name="Picture 4">
            <a:extLst>
              <a:ext uri="{FF2B5EF4-FFF2-40B4-BE49-F238E27FC236}">
                <a16:creationId xmlns:a16="http://schemas.microsoft.com/office/drawing/2014/main" id="{99B31FA5-E5B9-4660-90D3-8503008AE195}"/>
              </a:ext>
            </a:extLst>
          </p:cNvPr>
          <p:cNvPicPr/>
          <p:nvPr/>
        </p:nvPicPr>
        <p:blipFill rotWithShape="1">
          <a:blip r:embed="rId2"/>
          <a:srcRect l="19464" t="32722" r="20968" b="38495"/>
          <a:stretch/>
        </p:blipFill>
        <p:spPr bwMode="auto">
          <a:xfrm>
            <a:off x="221671" y="1039091"/>
            <a:ext cx="11111344" cy="1885863"/>
          </a:xfrm>
          <a:prstGeom prst="rect">
            <a:avLst/>
          </a:prstGeom>
          <a:ln>
            <a:noFill/>
          </a:ln>
          <a:effectLst>
            <a:outerShdw blurRad="50800" dist="50800" dir="5400000" algn="ctr" rotWithShape="0">
              <a:srgbClr val="000000">
                <a:alpha val="99000"/>
              </a:srgbClr>
            </a:outerShdw>
          </a:effectLst>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08A5A4A9-C37F-42F7-866B-0301F96E3E07}"/>
              </a:ext>
            </a:extLst>
          </p:cNvPr>
          <p:cNvPicPr/>
          <p:nvPr/>
        </p:nvPicPr>
        <p:blipFill rotWithShape="1">
          <a:blip r:embed="rId3"/>
          <a:srcRect l="15835" t="13768" r="18668" b="38812"/>
          <a:stretch/>
        </p:blipFill>
        <p:spPr bwMode="auto">
          <a:xfrm>
            <a:off x="457200" y="2564737"/>
            <a:ext cx="10875815" cy="382220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02114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F6F9-446D-4B86-B7C3-3B859781554B}"/>
              </a:ext>
            </a:extLst>
          </p:cNvPr>
          <p:cNvSpPr>
            <a:spLocks noGrp="1"/>
          </p:cNvSpPr>
          <p:nvPr>
            <p:ph type="title"/>
          </p:nvPr>
        </p:nvSpPr>
        <p:spPr>
          <a:xfrm>
            <a:off x="839788" y="124114"/>
            <a:ext cx="7639194" cy="679450"/>
          </a:xfrm>
        </p:spPr>
        <p:txBody>
          <a:bodyPr>
            <a:normAutofit/>
          </a:bodyPr>
          <a:lstStyle/>
          <a:p>
            <a:r>
              <a:rPr lang="en-US" sz="3000" b="1" dirty="0">
                <a:solidFill>
                  <a:srgbClr val="00B050"/>
                </a:solidFill>
                <a:latin typeface="Arial" panose="020B0604020202020204" pitchFamily="34" charset="0"/>
                <a:cs typeface="Arial" panose="020B0604020202020204" pitchFamily="34" charset="0"/>
              </a:rPr>
              <a:t>RESEARCH METHODOLOGIES CONT’D </a:t>
            </a:r>
            <a:endParaRPr lang="en-NG" sz="3000" b="1" dirty="0">
              <a:solidFill>
                <a:srgbClr val="00B050"/>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E2B73C82-CA15-4C47-BBA9-34B4072C3341}"/>
              </a:ext>
            </a:extLst>
          </p:cNvPr>
          <p:cNvSpPr>
            <a:spLocks noGrp="1"/>
          </p:cNvSpPr>
          <p:nvPr>
            <p:ph type="body" sz="half" idx="2"/>
          </p:nvPr>
        </p:nvSpPr>
        <p:spPr>
          <a:xfrm>
            <a:off x="332510" y="1066800"/>
            <a:ext cx="8950036" cy="3726873"/>
          </a:xfrm>
        </p:spPr>
        <p:txBody>
          <a:bodyPr>
            <a:normAutofit/>
          </a:bodyPr>
          <a:lstStyle/>
          <a:p>
            <a:r>
              <a:rPr lang="en-US" sz="1800" b="1" dirty="0">
                <a:latin typeface="Arial" panose="020B0604020202020204" pitchFamily="34" charset="0"/>
                <a:cs typeface="Arial" panose="020B0604020202020204" pitchFamily="34" charset="0"/>
              </a:rPr>
              <a:t>CNN ARCHITECTURE</a:t>
            </a:r>
          </a:p>
          <a:p>
            <a:endParaRPr lang="en-NG" sz="18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9503CAE-C0BD-4453-B76F-A3C3C33E557B}"/>
              </a:ext>
            </a:extLst>
          </p:cNvPr>
          <p:cNvPicPr/>
          <p:nvPr/>
        </p:nvPicPr>
        <p:blipFill rotWithShape="1">
          <a:blip r:embed="rId2"/>
          <a:srcRect l="14553" t="24036" r="3026" b="11792"/>
          <a:stretch/>
        </p:blipFill>
        <p:spPr bwMode="auto">
          <a:xfrm>
            <a:off x="0" y="1371600"/>
            <a:ext cx="12192000" cy="5486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60543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B568-7B20-43F9-9218-41A9FA8453F9}"/>
              </a:ext>
            </a:extLst>
          </p:cNvPr>
          <p:cNvSpPr>
            <a:spLocks noGrp="1"/>
          </p:cNvSpPr>
          <p:nvPr>
            <p:ph type="title"/>
          </p:nvPr>
        </p:nvSpPr>
        <p:spPr>
          <a:xfrm>
            <a:off x="374073" y="180111"/>
            <a:ext cx="9199418" cy="581890"/>
          </a:xfrm>
        </p:spPr>
        <p:txBody>
          <a:bodyPr>
            <a:normAutofit/>
          </a:bodyPr>
          <a:lstStyle/>
          <a:p>
            <a:r>
              <a:rPr lang="en-US" sz="2500" b="1" dirty="0">
                <a:latin typeface="Arial" panose="020B0604020202020204" pitchFamily="34" charset="0"/>
                <a:cs typeface="Arial" panose="020B0604020202020204" pitchFamily="34" charset="0"/>
              </a:rPr>
              <a:t>    EXPECTED CONTRIBUTION TO KNOWLEDGE</a:t>
            </a:r>
            <a:endParaRPr lang="en-NG" sz="2500" b="1" dirty="0">
              <a:latin typeface="Arial" panose="020B0604020202020204" pitchFamily="34" charset="0"/>
              <a:cs typeface="Arial" panose="020B0604020202020204" pitchFamily="34" charset="0"/>
            </a:endParaRPr>
          </a:p>
        </p:txBody>
      </p:sp>
      <p:pic>
        <p:nvPicPr>
          <p:cNvPr id="6" name="Picture Placeholder 5">
            <a:extLst>
              <a:ext uri="{FF2B5EF4-FFF2-40B4-BE49-F238E27FC236}">
                <a16:creationId xmlns:a16="http://schemas.microsoft.com/office/drawing/2014/main" id="{DB49C8D2-4171-4FF4-84DE-2B40812E890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5421" r="15421"/>
          <a:stretch>
            <a:fillRect/>
          </a:stretch>
        </p:blipFill>
        <p:spPr>
          <a:xfrm>
            <a:off x="9434946" y="106218"/>
            <a:ext cx="2230581" cy="1791854"/>
          </a:xfrm>
        </p:spPr>
      </p:pic>
      <p:sp>
        <p:nvSpPr>
          <p:cNvPr id="4" name="Text Placeholder 3">
            <a:extLst>
              <a:ext uri="{FF2B5EF4-FFF2-40B4-BE49-F238E27FC236}">
                <a16:creationId xmlns:a16="http://schemas.microsoft.com/office/drawing/2014/main" id="{5F2788FF-AAB3-449F-A494-930A2E33D5A7}"/>
              </a:ext>
            </a:extLst>
          </p:cNvPr>
          <p:cNvSpPr>
            <a:spLocks noGrp="1"/>
          </p:cNvSpPr>
          <p:nvPr>
            <p:ph type="body" sz="half" idx="2"/>
          </p:nvPr>
        </p:nvSpPr>
        <p:spPr>
          <a:xfrm>
            <a:off x="235527" y="1551709"/>
            <a:ext cx="9199418" cy="4455824"/>
          </a:xfrm>
        </p:spPr>
        <p:txBody>
          <a:bodyPr>
            <a:normAutofit/>
          </a:bodyPr>
          <a:lstStyle/>
          <a:p>
            <a:r>
              <a:rPr lang="en-US" sz="2200" dirty="0">
                <a:latin typeface="Arial" panose="020B0604020202020204" pitchFamily="34" charset="0"/>
                <a:cs typeface="Arial" panose="020B0604020202020204" pitchFamily="34" charset="0"/>
              </a:rPr>
              <a:t> </a:t>
            </a:r>
            <a:endParaRPr lang="en-NG" sz="22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256C89B-89BD-4D6E-A98F-7CA1280DE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4945" y="2182089"/>
            <a:ext cx="2133600" cy="2133600"/>
          </a:xfrm>
          <a:prstGeom prst="rect">
            <a:avLst/>
          </a:prstGeom>
        </p:spPr>
      </p:pic>
      <p:pic>
        <p:nvPicPr>
          <p:cNvPr id="10" name="Picture 9">
            <a:extLst>
              <a:ext uri="{FF2B5EF4-FFF2-40B4-BE49-F238E27FC236}">
                <a16:creationId xmlns:a16="http://schemas.microsoft.com/office/drawing/2014/main" id="{444EC9CC-1032-439E-B998-183A20D42E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526" y="4378036"/>
            <a:ext cx="2133600" cy="2133600"/>
          </a:xfrm>
          <a:prstGeom prst="rect">
            <a:avLst/>
          </a:prstGeom>
        </p:spPr>
      </p:pic>
      <p:pic>
        <p:nvPicPr>
          <p:cNvPr id="12" name="Picture 11">
            <a:extLst>
              <a:ext uri="{FF2B5EF4-FFF2-40B4-BE49-F238E27FC236}">
                <a16:creationId xmlns:a16="http://schemas.microsoft.com/office/drawing/2014/main" id="{5ED0C706-5B89-4C7C-A47E-D762A4421F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0" y="4378036"/>
            <a:ext cx="2133600" cy="2133600"/>
          </a:xfrm>
          <a:prstGeom prst="rect">
            <a:avLst/>
          </a:prstGeom>
        </p:spPr>
      </p:pic>
      <p:pic>
        <p:nvPicPr>
          <p:cNvPr id="14" name="Picture 13">
            <a:extLst>
              <a:ext uri="{FF2B5EF4-FFF2-40B4-BE49-F238E27FC236}">
                <a16:creationId xmlns:a16="http://schemas.microsoft.com/office/drawing/2014/main" id="{89EC1ECC-65F1-405A-A0F8-F06FCB509A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60474" y="4386551"/>
            <a:ext cx="2133600" cy="2133600"/>
          </a:xfrm>
          <a:prstGeom prst="rect">
            <a:avLst/>
          </a:prstGeom>
        </p:spPr>
      </p:pic>
      <p:pic>
        <p:nvPicPr>
          <p:cNvPr id="16" name="Picture 15">
            <a:extLst>
              <a:ext uri="{FF2B5EF4-FFF2-40B4-BE49-F238E27FC236}">
                <a16:creationId xmlns:a16="http://schemas.microsoft.com/office/drawing/2014/main" id="{428634A6-EA52-4697-A365-4C57D34371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94616" y="4448897"/>
            <a:ext cx="2133600" cy="2133600"/>
          </a:xfrm>
          <a:prstGeom prst="rect">
            <a:avLst/>
          </a:prstGeom>
        </p:spPr>
      </p:pic>
      <p:sp>
        <p:nvSpPr>
          <p:cNvPr id="3" name="Oval 2">
            <a:extLst>
              <a:ext uri="{FF2B5EF4-FFF2-40B4-BE49-F238E27FC236}">
                <a16:creationId xmlns:a16="http://schemas.microsoft.com/office/drawing/2014/main" id="{90F2ED2C-5599-44C2-8ECF-9C028496FA36}"/>
              </a:ext>
            </a:extLst>
          </p:cNvPr>
          <p:cNvSpPr/>
          <p:nvPr/>
        </p:nvSpPr>
        <p:spPr>
          <a:xfrm flipH="1">
            <a:off x="1293361" y="672761"/>
            <a:ext cx="4488874" cy="3379693"/>
          </a:xfrm>
          <a:prstGeom prst="ellipse">
            <a:avLst/>
          </a:prstGeom>
          <a:solidFill>
            <a:schemeClr val="accent1">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This project will provide  a model for detection and classification of maize diseases that will aid prompt and accurate treatment of diseases in maize.</a:t>
            </a:r>
            <a:endParaRPr lang="en-NG" sz="2000" dirty="0"/>
          </a:p>
        </p:txBody>
      </p:sp>
    </p:spTree>
    <p:extLst>
      <p:ext uri="{BB962C8B-B14F-4D97-AF65-F5344CB8AC3E}">
        <p14:creationId xmlns:p14="http://schemas.microsoft.com/office/powerpoint/2010/main" val="825184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16590-1148-4F1D-9F00-6B3DEC19C33E}"/>
              </a:ext>
            </a:extLst>
          </p:cNvPr>
          <p:cNvSpPr>
            <a:spLocks noGrp="1"/>
          </p:cNvSpPr>
          <p:nvPr>
            <p:ph type="title"/>
          </p:nvPr>
        </p:nvSpPr>
        <p:spPr>
          <a:xfrm>
            <a:off x="360219" y="13855"/>
            <a:ext cx="10293926" cy="554182"/>
          </a:xfrm>
        </p:spPr>
        <p:txBody>
          <a:bodyPr/>
          <a:lstStyle/>
          <a:p>
            <a:r>
              <a:rPr lang="en-US" dirty="0"/>
              <a:t>                                    </a:t>
            </a:r>
            <a:r>
              <a:rPr lang="en-US" b="1" u="sng" dirty="0"/>
              <a:t>REFERENCES</a:t>
            </a:r>
            <a:endParaRPr lang="en-NG" b="1" u="sng" dirty="0"/>
          </a:p>
        </p:txBody>
      </p:sp>
      <p:sp>
        <p:nvSpPr>
          <p:cNvPr id="4" name="Text Placeholder 3">
            <a:extLst>
              <a:ext uri="{FF2B5EF4-FFF2-40B4-BE49-F238E27FC236}">
                <a16:creationId xmlns:a16="http://schemas.microsoft.com/office/drawing/2014/main" id="{67C2FF17-3BCE-4B0C-90BF-A3DCDE3743D4}"/>
              </a:ext>
            </a:extLst>
          </p:cNvPr>
          <p:cNvSpPr>
            <a:spLocks noGrp="1"/>
          </p:cNvSpPr>
          <p:nvPr>
            <p:ph type="body" sz="half" idx="2"/>
          </p:nvPr>
        </p:nvSpPr>
        <p:spPr>
          <a:xfrm>
            <a:off x="360218" y="887507"/>
            <a:ext cx="10293926" cy="5161590"/>
          </a:xfrm>
        </p:spPr>
        <p:txBody>
          <a:bodyPr>
            <a:normAutofit fontScale="92500" lnSpcReduction="10000"/>
          </a:bodyPr>
          <a:lstStyle/>
          <a:p>
            <a:pPr>
              <a:lnSpc>
                <a:spcPct val="100000"/>
              </a:lnSpc>
            </a:pPr>
            <a:r>
              <a:rPr lang="en-US" sz="1700" dirty="0">
                <a:latin typeface="Arial" panose="020B0604020202020204" pitchFamily="34" charset="0"/>
                <a:cs typeface="Arial" panose="020B0604020202020204" pitchFamily="34" charset="0"/>
              </a:rPr>
              <a:t>Biplob, D., Mohammed, M., Ul, H., Rahela, K., and Romel, A. (2022). </a:t>
            </a:r>
            <a:r>
              <a:rPr lang="en-US" sz="1700" b="0" i="0" u="none" strike="noStrike" cap="none" dirty="0">
                <a:solidFill>
                  <a:schemeClr val="tx1"/>
                </a:solidFill>
                <a:effectLst/>
                <a:latin typeface="Arial" panose="020B0604020202020204" pitchFamily="34" charset="0"/>
                <a:cs typeface="Arial" panose="020B0604020202020204" pitchFamily="34" charset="0"/>
                <a:sym typeface="Arial"/>
              </a:rPr>
              <a:t>Comparative performance of four CNN-based deep learning variants in detecting two fungal diseases in Rice.</a:t>
            </a:r>
            <a:r>
              <a:rPr lang="en-US" sz="1700" dirty="0">
                <a:latin typeface="Arial" panose="020B0604020202020204" pitchFamily="34" charset="0"/>
                <a:cs typeface="Arial" panose="020B0604020202020204" pitchFamily="34" charset="0"/>
              </a:rPr>
              <a:t> International Journal of Agricultural and Biological Engineering, 18-24. : </a:t>
            </a:r>
            <a:r>
              <a:rPr lang="en-US" sz="1700" dirty="0">
                <a:latin typeface="Arial" panose="020B0604020202020204" pitchFamily="34" charset="0"/>
                <a:cs typeface="Arial" panose="020B0604020202020204" pitchFamily="34" charset="0"/>
                <a:hlinkClick r:id="rId2"/>
              </a:rPr>
              <a:t>https://www.sciencedirect.com/science/article/pii/S0168169922006494</a:t>
            </a:r>
            <a:r>
              <a:rPr lang="en-US" sz="1700" dirty="0">
                <a:latin typeface="Arial" panose="020B0604020202020204" pitchFamily="34" charset="0"/>
                <a:cs typeface="Arial" panose="020B0604020202020204" pitchFamily="34" charset="0"/>
              </a:rPr>
              <a:t>.</a:t>
            </a:r>
          </a:p>
          <a:p>
            <a:pPr>
              <a:lnSpc>
                <a:spcPct val="100000"/>
              </a:lnSpc>
            </a:pPr>
            <a:endParaRPr lang="en-US" sz="1700" dirty="0">
              <a:latin typeface="Arial" panose="020B0604020202020204" pitchFamily="34" charset="0"/>
              <a:cs typeface="Arial" panose="020B0604020202020204" pitchFamily="34" charset="0"/>
            </a:endParaRPr>
          </a:p>
          <a:p>
            <a:pPr>
              <a:lnSpc>
                <a:spcPct val="100000"/>
              </a:lnSpc>
            </a:pPr>
            <a:r>
              <a:rPr lang="en-US" sz="1700" dirty="0">
                <a:latin typeface="Arial" panose="020B0604020202020204" pitchFamily="34" charset="0"/>
                <a:cs typeface="Arial" panose="020B0604020202020204" pitchFamily="34" charset="0"/>
              </a:rPr>
              <a:t>Kshyanaprava, P. P., Himansu, D., Abhaya K. S., and Suresh, Chandra M. </a:t>
            </a:r>
            <a:r>
              <a:rPr lang="en-US" sz="1700" b="0" i="0" u="none" strike="noStrike" cap="none" dirty="0">
                <a:solidFill>
                  <a:schemeClr val="tx1"/>
                </a:solidFill>
                <a:effectLst/>
                <a:latin typeface="Arial" panose="020B0604020202020204" pitchFamily="34" charset="0"/>
                <a:cs typeface="Arial" panose="020B0604020202020204" pitchFamily="34" charset="0"/>
                <a:sym typeface="Arial"/>
              </a:rPr>
              <a:t>(2020). </a:t>
            </a:r>
            <a:r>
              <a:rPr lang="en-US" sz="1700" dirty="0">
                <a:latin typeface="Arial" panose="020B0604020202020204" pitchFamily="34" charset="0"/>
                <a:cs typeface="Arial" panose="020B0604020202020204" pitchFamily="34" charset="0"/>
              </a:rPr>
              <a:t>Maize Disease Detection and classification using ML algorithm. Progress in Computing, Analytics and Networking, Advances in Intelligent Systems and Computing 1119, </a:t>
            </a:r>
            <a:r>
              <a:rPr lang="en-US" sz="1700" dirty="0">
                <a:latin typeface="Arial" panose="020B0604020202020204" pitchFamily="34" charset="0"/>
                <a:cs typeface="Arial" panose="020B0604020202020204" pitchFamily="34" charset="0"/>
                <a:hlinkClick r:id="rId3"/>
              </a:rPr>
              <a:t>https://doi.org/10.1007/978-981-15-2414-1_66</a:t>
            </a:r>
            <a:endParaRPr lang="en-US" sz="1700" dirty="0">
              <a:latin typeface="Arial" panose="020B0604020202020204" pitchFamily="34" charset="0"/>
              <a:cs typeface="Arial" panose="020B0604020202020204" pitchFamily="34" charset="0"/>
            </a:endParaRPr>
          </a:p>
          <a:p>
            <a:pPr algn="l">
              <a:lnSpc>
                <a:spcPct val="100000"/>
              </a:lnSpc>
            </a:pPr>
            <a:endParaRPr lang="en-NG" sz="1700" b="0" i="0" u="none" strike="noStrike" baseline="0" dirty="0">
              <a:solidFill>
                <a:srgbClr val="000000"/>
              </a:solidFill>
              <a:latin typeface="Arial" panose="020B0604020202020204" pitchFamily="34" charset="0"/>
              <a:cs typeface="Arial" panose="020B0604020202020204" pitchFamily="34" charset="0"/>
            </a:endParaRPr>
          </a:p>
          <a:p>
            <a:pPr>
              <a:lnSpc>
                <a:spcPct val="100000"/>
              </a:lnSpc>
            </a:pPr>
            <a:r>
              <a:rPr lang="en-US" sz="1700" b="0" i="0" u="none" strike="noStrike" baseline="0" dirty="0">
                <a:solidFill>
                  <a:srgbClr val="000000"/>
                </a:solidFill>
                <a:latin typeface="Arial" panose="020B0604020202020204" pitchFamily="34" charset="0"/>
                <a:cs typeface="Arial" panose="020B0604020202020204" pitchFamily="34" charset="0"/>
              </a:rPr>
              <a:t> Sahil, J., Jyotsna, Y.,  Navin R., Mukta A., and Juhi, C. </a:t>
            </a:r>
            <a:r>
              <a:rPr lang="en-US" sz="1700" b="0" i="0" u="none" strike="noStrike" cap="none" dirty="0">
                <a:solidFill>
                  <a:schemeClr val="tx1"/>
                </a:solidFill>
                <a:effectLst/>
                <a:latin typeface="Arial" panose="020B0604020202020204" pitchFamily="34" charset="0"/>
                <a:cs typeface="Arial" panose="020B0604020202020204" pitchFamily="34" charset="0"/>
                <a:sym typeface="Arial"/>
              </a:rPr>
              <a:t>(2023). Convolutional Neural Network Based Maize Disease Identification. </a:t>
            </a:r>
            <a:r>
              <a:rPr lang="en-US" sz="1700" b="0" i="0" u="none" strike="noStrike" baseline="0" dirty="0">
                <a:solidFill>
                  <a:srgbClr val="000000"/>
                </a:solidFill>
                <a:latin typeface="Arial" panose="020B0604020202020204" pitchFamily="34" charset="0"/>
                <a:cs typeface="Arial" panose="020B0604020202020204" pitchFamily="34" charset="0"/>
              </a:rPr>
              <a:t>Peer-review under responsibility of the scientific committee of the International Conference on Machine Learning and Data Engineering. </a:t>
            </a:r>
            <a:r>
              <a:rPr lang="en-US" sz="1700" dirty="0">
                <a:latin typeface="Arial" panose="020B0604020202020204" pitchFamily="34" charset="0"/>
                <a:cs typeface="Arial" panose="020B0604020202020204" pitchFamily="34" charset="0"/>
                <a:hlinkClick r:id="rId3"/>
              </a:rPr>
              <a:t>https:// </a:t>
            </a:r>
            <a:r>
              <a:rPr lang="en-US" sz="1700" b="0" i="0" u="none" strike="noStrike" baseline="0" dirty="0">
                <a:solidFill>
                  <a:srgbClr val="000000"/>
                </a:solidFill>
                <a:latin typeface="Arial" panose="020B0604020202020204" pitchFamily="34" charset="0"/>
                <a:cs typeface="Arial" panose="020B0604020202020204" pitchFamily="34" charset="0"/>
              </a:rPr>
              <a:t>creativecommons.org/licenses/by-nc-nd/4.0.</a:t>
            </a:r>
          </a:p>
          <a:p>
            <a:pPr>
              <a:lnSpc>
                <a:spcPct val="100000"/>
              </a:lnSpc>
            </a:pPr>
            <a:endParaRPr lang="en-US" sz="1700" b="0" i="0" u="none" strike="noStrike" baseline="0" dirty="0">
              <a:solidFill>
                <a:srgbClr val="000000"/>
              </a:solidFill>
              <a:latin typeface="Arial" panose="020B0604020202020204" pitchFamily="34" charset="0"/>
              <a:cs typeface="Arial" panose="020B0604020202020204" pitchFamily="34" charset="0"/>
            </a:endParaRPr>
          </a:p>
          <a:p>
            <a:pPr algn="l">
              <a:lnSpc>
                <a:spcPct val="100000"/>
              </a:lnSpc>
            </a:pPr>
            <a:r>
              <a:rPr lang="en-US" sz="1700" dirty="0">
                <a:latin typeface="Arial" panose="020B0604020202020204" pitchFamily="34" charset="0"/>
                <a:cs typeface="Arial" panose="020B0604020202020204" pitchFamily="34" charset="0"/>
              </a:rPr>
              <a:t>Malusi, S., and Mbuyu, S. </a:t>
            </a:r>
            <a:r>
              <a:rPr lang="en-US" sz="1700" b="0" i="0" u="none" strike="noStrike" cap="none" dirty="0">
                <a:solidFill>
                  <a:schemeClr val="tx1"/>
                </a:solidFill>
                <a:effectLst/>
                <a:latin typeface="Arial" panose="020B0604020202020204" pitchFamily="34" charset="0"/>
                <a:cs typeface="Arial" panose="020B0604020202020204" pitchFamily="34" charset="0"/>
                <a:sym typeface="Arial"/>
              </a:rPr>
              <a:t>(2019). </a:t>
            </a:r>
            <a:r>
              <a:rPr lang="en-US" sz="1700" dirty="0">
                <a:latin typeface="Arial" panose="020B0604020202020204" pitchFamily="34" charset="0"/>
                <a:cs typeface="Arial" panose="020B0604020202020204" pitchFamily="34" charset="0"/>
              </a:rPr>
              <a:t>A computational procedure for the recognition and classification of maize leaf disease out of healthy leaves using CNN. AgriEngineering 2019, 1, 119–131; doi:10.3390/agriengineering1010000. </a:t>
            </a:r>
            <a:r>
              <a:rPr lang="en-US" sz="1700" dirty="0">
                <a:latin typeface="Arial" panose="020B0604020202020204" pitchFamily="34" charset="0"/>
                <a:cs typeface="Arial" panose="020B0604020202020204" pitchFamily="34" charset="0"/>
                <a:hlinkClick r:id="rId4"/>
              </a:rPr>
              <a:t>www.mdpi.com/journal/agriengineering</a:t>
            </a:r>
            <a:endParaRPr lang="en-US" sz="1700" dirty="0">
              <a:latin typeface="Arial" panose="020B0604020202020204" pitchFamily="34" charset="0"/>
              <a:cs typeface="Arial" panose="020B0604020202020204" pitchFamily="34" charset="0"/>
            </a:endParaRPr>
          </a:p>
          <a:p>
            <a:pPr algn="l">
              <a:lnSpc>
                <a:spcPct val="100000"/>
              </a:lnSpc>
            </a:pPr>
            <a:endParaRPr lang="en-NG" sz="1700" b="0" i="0" u="none" strike="noStrike" baseline="0" dirty="0">
              <a:solidFill>
                <a:srgbClr val="000000"/>
              </a:solidFill>
              <a:latin typeface="Arial" panose="020B0604020202020204" pitchFamily="34" charset="0"/>
              <a:cs typeface="Arial" panose="020B0604020202020204" pitchFamily="34" charset="0"/>
            </a:endParaRPr>
          </a:p>
          <a:p>
            <a:pPr>
              <a:lnSpc>
                <a:spcPct val="100000"/>
              </a:lnSpc>
            </a:pPr>
            <a:r>
              <a:rPr lang="en-US" sz="2200" b="0" i="0" u="none" strike="noStrike" baseline="0" dirty="0">
                <a:solidFill>
                  <a:srgbClr val="000000"/>
                </a:solidFill>
                <a:latin typeface="Arial" panose="020B0604020202020204" pitchFamily="34" charset="0"/>
                <a:cs typeface="Arial" panose="020B0604020202020204" pitchFamily="34" charset="0"/>
              </a:rPr>
              <a:t>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71017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4C2032-B4C4-4355-99C6-C21EA56DD345}"/>
              </a:ext>
            </a:extLst>
          </p:cNvPr>
          <p:cNvSpPr>
            <a:spLocks noGrp="1"/>
          </p:cNvSpPr>
          <p:nvPr>
            <p:ph type="body" sz="half" idx="2"/>
          </p:nvPr>
        </p:nvSpPr>
        <p:spPr>
          <a:xfrm>
            <a:off x="839788" y="2410690"/>
            <a:ext cx="8927667" cy="3458297"/>
          </a:xfrm>
        </p:spPr>
        <p:txBody>
          <a:bodyPr/>
          <a:lstStyle/>
          <a:p>
            <a:endParaRPr lang="en-US" dirty="0"/>
          </a:p>
          <a:p>
            <a:endParaRPr lang="en-US" sz="2800" dirty="0"/>
          </a:p>
          <a:p>
            <a:endParaRPr lang="en-US" sz="2800" dirty="0"/>
          </a:p>
          <a:p>
            <a:endParaRPr lang="en-US" sz="2800" dirty="0"/>
          </a:p>
          <a:p>
            <a:r>
              <a:rPr lang="en-US" sz="2800" b="1" dirty="0">
                <a:solidFill>
                  <a:schemeClr val="accent1">
                    <a:lumMod val="50000"/>
                  </a:schemeClr>
                </a:solidFill>
                <a:latin typeface=" Arial"/>
              </a:rPr>
              <a:t>                        </a:t>
            </a:r>
            <a:r>
              <a:rPr lang="en-US" sz="3600" b="1" dirty="0">
                <a:solidFill>
                  <a:schemeClr val="accent1">
                    <a:lumMod val="50000"/>
                  </a:schemeClr>
                </a:solidFill>
                <a:latin typeface=" Arial"/>
              </a:rPr>
              <a:t>FOR LISTENING</a:t>
            </a:r>
            <a:r>
              <a:rPr lang="en-US" sz="2800" b="1" dirty="0">
                <a:solidFill>
                  <a:schemeClr val="accent1">
                    <a:lumMod val="50000"/>
                  </a:schemeClr>
                </a:solidFill>
                <a:latin typeface=" Arial"/>
              </a:rPr>
              <a:t>!</a:t>
            </a:r>
            <a:endParaRPr lang="en-NG" sz="2800" b="1" dirty="0">
              <a:solidFill>
                <a:schemeClr val="accent1">
                  <a:lumMod val="50000"/>
                </a:schemeClr>
              </a:solidFill>
              <a:latin typeface=" Arial"/>
            </a:endParaRPr>
          </a:p>
        </p:txBody>
      </p:sp>
      <p:pic>
        <p:nvPicPr>
          <p:cNvPr id="5" name="Picture 4">
            <a:extLst>
              <a:ext uri="{FF2B5EF4-FFF2-40B4-BE49-F238E27FC236}">
                <a16:creationId xmlns:a16="http://schemas.microsoft.com/office/drawing/2014/main" id="{135F30A1-2D75-4768-93F2-4D316C45E615}"/>
              </a:ext>
            </a:extLst>
          </p:cNvPr>
          <p:cNvPicPr>
            <a:picLocks noChangeAspect="1"/>
          </p:cNvPicPr>
          <p:nvPr/>
        </p:nvPicPr>
        <p:blipFill>
          <a:blip r:embed="rId2">
            <a:extLst>
              <a:ext uri="{BEBA8EAE-BF5A-486C-A8C5-ECC9F3942E4B}">
                <a14:imgProps xmlns:a14="http://schemas.microsoft.com/office/drawing/2010/main">
                  <a14:imgLayer r:embed="rId3">
                    <a14:imgEffect>
                      <a14:artisticMosiaicBubbles/>
                    </a14:imgEffect>
                  </a14:imgLayer>
                </a14:imgProps>
              </a:ext>
              <a:ext uri="{28A0092B-C50C-407E-A947-70E740481C1C}">
                <a14:useLocalDpi xmlns:a14="http://schemas.microsoft.com/office/drawing/2010/main" val="0"/>
              </a:ext>
            </a:extLst>
          </a:blip>
          <a:stretch>
            <a:fillRect/>
          </a:stretch>
        </p:blipFill>
        <p:spPr>
          <a:xfrm>
            <a:off x="292533" y="540327"/>
            <a:ext cx="10326976" cy="3458297"/>
          </a:xfrm>
          <a:prstGeom prst="rect">
            <a:avLst/>
          </a:prstGeom>
          <a:effectLst>
            <a:glow rad="228600">
              <a:schemeClr val="accent1">
                <a:satMod val="175000"/>
                <a:alpha val="90000"/>
              </a:schemeClr>
            </a:glow>
            <a:softEdge rad="0"/>
          </a:effectLst>
        </p:spPr>
      </p:pic>
    </p:spTree>
    <p:extLst>
      <p:ext uri="{BB962C8B-B14F-4D97-AF65-F5344CB8AC3E}">
        <p14:creationId xmlns:p14="http://schemas.microsoft.com/office/powerpoint/2010/main" val="39176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736</TotalTime>
  <Words>1560</Words>
  <Application>Microsoft Office PowerPoint</Application>
  <PresentationFormat>Widescreen</PresentationFormat>
  <Paragraphs>137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 Arial</vt:lpstr>
      <vt:lpstr>Arial</vt:lpstr>
      <vt:lpstr>Calibri</vt:lpstr>
      <vt:lpstr>Calibri Light</vt:lpstr>
      <vt:lpstr>Tahoma</vt:lpstr>
      <vt:lpstr>Office Theme</vt:lpstr>
      <vt:lpstr>AN ORAL PRESENTATION  ON  Maize Disease Detection and Classification Based on Deep Neural Network for substantiating the crop yield </vt:lpstr>
      <vt:lpstr>PowerPoint Presentation</vt:lpstr>
      <vt:lpstr>RESEARCH MOTIVATION</vt:lpstr>
      <vt:lpstr>        RESEARCH OBJECTIVES</vt:lpstr>
      <vt:lpstr>PowerPoint Presentation</vt:lpstr>
      <vt:lpstr>PowerPoint Presentation</vt:lpstr>
      <vt:lpstr>PowerPoint Presentation</vt:lpstr>
      <vt:lpstr>              RESEARCH METHODOLOGY</vt:lpstr>
      <vt:lpstr>        RESEARCH METHODOLOGY CONT’D                                      ARCHITECTURE</vt:lpstr>
      <vt:lpstr>               RESEARCHER METHODOLOGY CONT’D Log_CNN AND CLAHE_CNN ARCHITECTURE</vt:lpstr>
      <vt:lpstr>RESEARCH METHODOLOGIES CONT’D </vt:lpstr>
      <vt:lpstr>    EXPECTED CONTRIBUTION TO KNOWLEDGE</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 Adebowale</dc:creator>
  <cp:lastModifiedBy>Anu Adebowale</cp:lastModifiedBy>
  <cp:revision>158</cp:revision>
  <dcterms:created xsi:type="dcterms:W3CDTF">2025-03-06T09:38:27Z</dcterms:created>
  <dcterms:modified xsi:type="dcterms:W3CDTF">2025-03-11T05:41:24Z</dcterms:modified>
</cp:coreProperties>
</file>