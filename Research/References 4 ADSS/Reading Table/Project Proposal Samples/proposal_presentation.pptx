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70A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FECE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RESILIENT MULTI-INDICATOR EDGE SURVEILLANCE SYSTEM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FA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INFRASTRUCTURE-CONSTRAINED ENVIRONMENTS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0" y="2926080"/>
            <a:ext cx="3657600" cy="27432"/>
          </a:xfrm>
          <a:prstGeom prst="rect">
            <a:avLst/>
          </a:prstGeom>
          <a:solidFill>
            <a:srgbClr val="8FABD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9184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E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BY: </a:t>
            </a:r>
            <a:pPr algn="ctr" indent="0" marL="0">
              <a:buNone/>
            </a:pPr>
            <a:r>
              <a:rPr lang="en-US" sz="1400" dirty="0">
                <a:solidFill>
                  <a:srgbClr val="EFE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AUSTINE CHUKWUEBUKA RAPHAEL</a:t>
            </a:r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FE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MATRIC NO: 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FE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SEN/20/5090</a:t>
            </a:r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FE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SUPERVISOR: 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FE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K.G. AKINTOLA</a:t>
            </a:r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FE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DEPARTMENT: 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FE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ENGINEERING</a:t>
            </a:r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FE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DATE: 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FE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FEBRUARY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EC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4A70A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OUTLINE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371600" cy="45720"/>
          </a:xfrm>
          <a:prstGeom prst="rect">
            <a:avLst/>
          </a:prstGeom>
          <a:solidFill>
            <a:srgbClr val="4A70A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16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Literature Review</a:t>
            </a:r>
            <a:endParaRPr lang="en-US" sz="16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Motivation</a:t>
            </a:r>
            <a:endParaRPr lang="en-US" sz="16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Objectives</a:t>
            </a:r>
            <a:endParaRPr lang="en-US" sz="16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 I: Development Approach</a:t>
            </a:r>
            <a:endParaRPr lang="en-US" sz="16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 II: System Architecture</a:t>
            </a:r>
            <a:endParaRPr lang="en-US" sz="16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Contributions</a:t>
            </a:r>
            <a:endParaRPr lang="en-US" sz="16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EC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4A70A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INTRODUCTION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371600" cy="45720"/>
          </a:xfrm>
          <a:prstGeom prst="rect">
            <a:avLst/>
          </a:prstGeom>
          <a:solidFill>
            <a:srgbClr val="4A70A9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645920"/>
            <a:ext cx="8046720" cy="548640"/>
          </a:xfrm>
          <a:prstGeom prst="rect">
            <a:avLst/>
          </a:prstGeom>
          <a:solidFill>
            <a:srgbClr val="8FABD4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70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560320" y="16916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Surveillance systems traditionally assume stable power and connectivity — assumptions that don't hold in Nigerian infrastructure reality.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8046720" cy="548640"/>
          </a:xfrm>
          <a:prstGeom prst="rect">
            <a:avLst/>
          </a:prstGeom>
          <a:solidFill>
            <a:srgbClr val="EFECE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331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70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560320" y="233172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Grid-dependent systems fail during outages. Cloud-dependent analytics collapse when connectivity drops. Manual monitoring suffers from fatigue.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8046720" cy="640080"/>
          </a:xfrm>
          <a:prstGeom prst="rect">
            <a:avLst/>
          </a:prstGeom>
          <a:solidFill>
            <a:srgbClr val="8FABD4">
              <a:alpha val="3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9718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70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Challenge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560320" y="297180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AI research focuses on detection accuracy, not infrastructure resilience. Existing systems assume stable power/connectivity (Ali et al., 2024; Batzner et al., 2023).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8046720" cy="640080"/>
          </a:xfrm>
          <a:prstGeom prst="rect">
            <a:avLst/>
          </a:prstGeom>
          <a:solidFill>
            <a:srgbClr val="EFECE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7033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70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560320" y="370332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Solar-assisted, GSM-enabled edge surveillance with modular behavioral detection, designed for 24/7 autonomous operation under infrastructure constraints.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EC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4A70A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LITERATURE REVIEW: DETECTION &amp; LOW-LIGHT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371600" cy="45720"/>
          </a:xfrm>
          <a:prstGeom prst="rect">
            <a:avLst/>
          </a:prstGeom>
          <a:solidFill>
            <a:srgbClr val="4A70A9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63040"/>
            <a:ext cx="1828800" cy="365760"/>
          </a:xfrm>
          <a:prstGeom prst="rect">
            <a:avLst/>
          </a:prstGeom>
          <a:solidFill>
            <a:srgbClr val="4A70A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E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/ Author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0" y="1463040"/>
            <a:ext cx="1645920" cy="365760"/>
          </a:xfrm>
          <a:prstGeom prst="rect">
            <a:avLst/>
          </a:prstGeom>
          <a:solidFill>
            <a:srgbClr val="4A70A9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1463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E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931920" y="1463040"/>
            <a:ext cx="1645920" cy="365760"/>
          </a:xfrm>
          <a:prstGeom prst="rect">
            <a:avLst/>
          </a:prstGeom>
          <a:solidFill>
            <a:srgbClr val="4A70A9"/>
          </a:solidFill>
          <a:ln/>
        </p:spPr>
      </p:sp>
      <p:sp>
        <p:nvSpPr>
          <p:cNvPr id="9" name="Text 7"/>
          <p:cNvSpPr/>
          <p:nvPr/>
        </p:nvSpPr>
        <p:spPr>
          <a:xfrm>
            <a:off x="3931920" y="1463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E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577840" y="1463040"/>
            <a:ext cx="1645920" cy="365760"/>
          </a:xfrm>
          <a:prstGeom prst="rect">
            <a:avLst/>
          </a:prstGeom>
          <a:solidFill>
            <a:srgbClr val="4A70A9"/>
          </a:solidFill>
          <a:ln/>
        </p:spPr>
      </p:sp>
      <p:sp>
        <p:nvSpPr>
          <p:cNvPr id="11" name="Text 9"/>
          <p:cNvSpPr/>
          <p:nvPr/>
        </p:nvSpPr>
        <p:spPr>
          <a:xfrm>
            <a:off x="5577840" y="1463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E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223760" y="1463040"/>
            <a:ext cx="1645920" cy="365760"/>
          </a:xfrm>
          <a:prstGeom prst="rect">
            <a:avLst/>
          </a:prstGeom>
          <a:solidFill>
            <a:srgbClr val="4A70A9"/>
          </a:solidFill>
          <a:ln/>
        </p:spPr>
      </p:sp>
      <p:sp>
        <p:nvSpPr>
          <p:cNvPr id="13" name="Text 11"/>
          <p:cNvSpPr/>
          <p:nvPr/>
        </p:nvSpPr>
        <p:spPr>
          <a:xfrm>
            <a:off x="7223760" y="1463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E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1828800"/>
            <a:ext cx="1828800" cy="822960"/>
          </a:xfrm>
          <a:prstGeom prst="rect">
            <a:avLst/>
          </a:prstGeom>
          <a:solidFill>
            <a:srgbClr val="8FABD4"/>
          </a:solidFill>
          <a:ln w="6350">
            <a:solidFill>
              <a:srgbClr val="4A70A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87452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 et al. (2021)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LLIE Survey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86000" y="1828800"/>
            <a:ext cx="1645920" cy="822960"/>
          </a:xfrm>
          <a:prstGeom prst="rect">
            <a:avLst/>
          </a:prstGeom>
          <a:solidFill>
            <a:srgbClr val="8FABD4">
              <a:alpha val="70000"/>
            </a:srgbClr>
          </a:solidFill>
          <a:ln w="6350">
            <a:solidFill>
              <a:srgbClr val="4A70A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31720" y="187452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Systematic review of 100+ deep learning LLIE methods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931920" y="1828800"/>
            <a:ext cx="1645920" cy="822960"/>
          </a:xfrm>
          <a:prstGeom prst="rect">
            <a:avLst/>
          </a:prstGeom>
          <a:solidFill>
            <a:srgbClr val="8FABD4">
              <a:alpha val="70000"/>
            </a:srgbClr>
          </a:solidFill>
          <a:ln w="6350">
            <a:solidFill>
              <a:srgbClr val="4A70A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77640" y="187452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Taxonomy of reconstruction and Retinex-based approaches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577840" y="1828800"/>
            <a:ext cx="1645920" cy="822960"/>
          </a:xfrm>
          <a:prstGeom prst="rect">
            <a:avLst/>
          </a:prstGeom>
          <a:solidFill>
            <a:srgbClr val="8FABD4">
              <a:alpha val="70000"/>
            </a:srgbClr>
          </a:solidFill>
          <a:ln w="6350">
            <a:solidFill>
              <a:srgbClr val="4A70A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23560" y="187452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LLIV-Phone dataset, unified evaluation platform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223760" y="1828800"/>
            <a:ext cx="1645920" cy="822960"/>
          </a:xfrm>
          <a:prstGeom prst="rect">
            <a:avLst/>
          </a:prstGeom>
          <a:solidFill>
            <a:srgbClr val="8FABD4">
              <a:alpha val="70000"/>
            </a:srgbClr>
          </a:solidFill>
          <a:ln w="6350">
            <a:solidFill>
              <a:srgbClr val="4A70A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69480" y="187452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struggle with real-world noise, temporal consistency issues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2651760"/>
            <a:ext cx="1828800" cy="822960"/>
          </a:xfrm>
          <a:prstGeom prst="rect">
            <a:avLst/>
          </a:prstGeom>
          <a:solidFill>
            <a:srgbClr val="EFECE3"/>
          </a:solidFill>
          <a:ln w="6350">
            <a:solidFill>
              <a:srgbClr val="4A70A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26974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Ghari et al. (2024)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Pedestrian Low-Light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286000" y="2651760"/>
            <a:ext cx="1645920" cy="822960"/>
          </a:xfrm>
          <a:prstGeom prst="rect">
            <a:avLst/>
          </a:prstGeom>
          <a:solidFill>
            <a:srgbClr val="EFECE3">
              <a:alpha val="70000"/>
            </a:srgbClr>
          </a:solidFill>
          <a:ln w="6350">
            <a:solidFill>
              <a:srgbClr val="4A70A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31720" y="269748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Survey pedestrian detection under low-light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931920" y="2651760"/>
            <a:ext cx="1645920" cy="822960"/>
          </a:xfrm>
          <a:prstGeom prst="rect">
            <a:avLst/>
          </a:prstGeom>
          <a:solidFill>
            <a:srgbClr val="EFECE3">
              <a:alpha val="70000"/>
            </a:srgbClr>
          </a:solidFill>
          <a:ln w="6350">
            <a:solidFill>
              <a:srgbClr val="4A70A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77640" y="269748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Multi-task methodology analysis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577840" y="2651760"/>
            <a:ext cx="1645920" cy="822960"/>
          </a:xfrm>
          <a:prstGeom prst="rect">
            <a:avLst/>
          </a:prstGeom>
          <a:solidFill>
            <a:srgbClr val="EFECE3">
              <a:alpha val="70000"/>
            </a:srgbClr>
          </a:solidFill>
          <a:ln w="6350">
            <a:solidFill>
              <a:srgbClr val="4A70A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23560" y="269748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 multi-task methods lack attention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223760" y="2651760"/>
            <a:ext cx="1645920" cy="822960"/>
          </a:xfrm>
          <a:prstGeom prst="rect">
            <a:avLst/>
          </a:prstGeom>
          <a:solidFill>
            <a:srgbClr val="EFECE3">
              <a:alpha val="70000"/>
            </a:srgbClr>
          </a:solidFill>
          <a:ln w="6350">
            <a:solidFill>
              <a:srgbClr val="4A70A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69480" y="269748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Environmental sensitivity, occlusion challenges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3474720"/>
            <a:ext cx="1828800" cy="822960"/>
          </a:xfrm>
          <a:prstGeom prst="rect">
            <a:avLst/>
          </a:prstGeom>
          <a:solidFill>
            <a:srgbClr val="8FABD4"/>
          </a:solidFill>
          <a:ln w="6350">
            <a:solidFill>
              <a:srgbClr val="4A70A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35204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Zhou et al. (2018)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Low-Quality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0" y="3474720"/>
            <a:ext cx="1645920" cy="822960"/>
          </a:xfrm>
          <a:prstGeom prst="rect">
            <a:avLst/>
          </a:prstGeom>
          <a:solidFill>
            <a:srgbClr val="8FABD4">
              <a:alpha val="70000"/>
            </a:srgbClr>
          </a:solidFill>
          <a:ln w="6350">
            <a:solidFill>
              <a:srgbClr val="4A70A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331720" y="352044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detection degradation analysis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931920" y="3474720"/>
            <a:ext cx="1645920" cy="822960"/>
          </a:xfrm>
          <a:prstGeom prst="rect">
            <a:avLst/>
          </a:prstGeom>
          <a:solidFill>
            <a:srgbClr val="8FABD4">
              <a:alpha val="70000"/>
            </a:srgbClr>
          </a:solidFill>
          <a:ln w="6350">
            <a:solidFill>
              <a:srgbClr val="4A70A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977640" y="352044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Survey of blur, noise, low-light impacts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577840" y="3474720"/>
            <a:ext cx="1645920" cy="822960"/>
          </a:xfrm>
          <a:prstGeom prst="rect">
            <a:avLst/>
          </a:prstGeom>
          <a:solidFill>
            <a:srgbClr val="8FABD4">
              <a:alpha val="70000"/>
            </a:srgbClr>
          </a:solidFill>
          <a:ln w="6350">
            <a:solidFill>
              <a:srgbClr val="4A70A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23560" y="352044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generalization gap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223760" y="3474720"/>
            <a:ext cx="1645920" cy="822960"/>
          </a:xfrm>
          <a:prstGeom prst="rect">
            <a:avLst/>
          </a:prstGeom>
          <a:solidFill>
            <a:srgbClr val="8FABD4">
              <a:alpha val="70000"/>
            </a:srgbClr>
          </a:solidFill>
          <a:ln w="6350">
            <a:solidFill>
              <a:srgbClr val="4A70A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69480" y="352044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concerns with face-based approaches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7200" y="4297680"/>
            <a:ext cx="1828800" cy="822960"/>
          </a:xfrm>
          <a:prstGeom prst="rect">
            <a:avLst/>
          </a:prstGeom>
          <a:solidFill>
            <a:srgbClr val="EFECE3"/>
          </a:solidFill>
          <a:ln w="6350">
            <a:solidFill>
              <a:srgbClr val="4A70A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" y="434340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 et al. (2020)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EfficientDet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286000" y="4297680"/>
            <a:ext cx="1645920" cy="822960"/>
          </a:xfrm>
          <a:prstGeom prst="rect">
            <a:avLst/>
          </a:prstGeom>
          <a:solidFill>
            <a:srgbClr val="EFECE3">
              <a:alpha val="70000"/>
            </a:srgbClr>
          </a:solidFill>
          <a:ln w="6350">
            <a:solidFill>
              <a:srgbClr val="4A70A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331720" y="434340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 object detection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931920" y="4297680"/>
            <a:ext cx="1645920" cy="822960"/>
          </a:xfrm>
          <a:prstGeom prst="rect">
            <a:avLst/>
          </a:prstGeom>
          <a:solidFill>
            <a:srgbClr val="EFECE3">
              <a:alpha val="70000"/>
            </a:srgbClr>
          </a:solidFill>
          <a:ln w="6350">
            <a:solidFill>
              <a:srgbClr val="4A70A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977640" y="434340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BiFPN + compound scaling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577840" y="4297680"/>
            <a:ext cx="1645920" cy="822960"/>
          </a:xfrm>
          <a:prstGeom prst="rect">
            <a:avLst/>
          </a:prstGeom>
          <a:solidFill>
            <a:srgbClr val="EFECE3">
              <a:alpha val="70000"/>
            </a:srgbClr>
          </a:solidFill>
          <a:ln w="6350">
            <a:solidFill>
              <a:srgbClr val="4A70A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623560" y="434340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 multi-scale detection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223760" y="4297680"/>
            <a:ext cx="1645920" cy="822960"/>
          </a:xfrm>
          <a:prstGeom prst="rect">
            <a:avLst/>
          </a:prstGeom>
          <a:solidFill>
            <a:srgbClr val="EFECE3">
              <a:alpha val="70000"/>
            </a:srgbClr>
          </a:solidFill>
          <a:ln w="6350">
            <a:solidFill>
              <a:srgbClr val="4A70A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269480" y="434340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variants exceed edge hardware capacity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EC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4A70A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LITERATURE REVIEW: EDGE &amp; ANOMALY DETECTION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371600" cy="45720"/>
          </a:xfrm>
          <a:prstGeom prst="rect">
            <a:avLst/>
          </a:prstGeom>
          <a:solidFill>
            <a:srgbClr val="4A70A9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63040"/>
            <a:ext cx="1828800" cy="365760"/>
          </a:xfrm>
          <a:prstGeom prst="rect">
            <a:avLst/>
          </a:prstGeom>
          <a:solidFill>
            <a:srgbClr val="4A70A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E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/ Author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0" y="1463040"/>
            <a:ext cx="1645920" cy="365760"/>
          </a:xfrm>
          <a:prstGeom prst="rect">
            <a:avLst/>
          </a:prstGeom>
          <a:solidFill>
            <a:srgbClr val="4A70A9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1463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E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931920" y="1463040"/>
            <a:ext cx="1645920" cy="365760"/>
          </a:xfrm>
          <a:prstGeom prst="rect">
            <a:avLst/>
          </a:prstGeom>
          <a:solidFill>
            <a:srgbClr val="4A70A9"/>
          </a:solidFill>
          <a:ln/>
        </p:spPr>
      </p:sp>
      <p:sp>
        <p:nvSpPr>
          <p:cNvPr id="9" name="Text 7"/>
          <p:cNvSpPr/>
          <p:nvPr/>
        </p:nvSpPr>
        <p:spPr>
          <a:xfrm>
            <a:off x="3931920" y="1463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E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577840" y="1463040"/>
            <a:ext cx="1645920" cy="365760"/>
          </a:xfrm>
          <a:prstGeom prst="rect">
            <a:avLst/>
          </a:prstGeom>
          <a:solidFill>
            <a:srgbClr val="4A70A9"/>
          </a:solidFill>
          <a:ln/>
        </p:spPr>
      </p:sp>
      <p:sp>
        <p:nvSpPr>
          <p:cNvPr id="11" name="Text 9"/>
          <p:cNvSpPr/>
          <p:nvPr/>
        </p:nvSpPr>
        <p:spPr>
          <a:xfrm>
            <a:off x="5577840" y="1463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E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223760" y="1463040"/>
            <a:ext cx="1645920" cy="365760"/>
          </a:xfrm>
          <a:prstGeom prst="rect">
            <a:avLst/>
          </a:prstGeom>
          <a:solidFill>
            <a:srgbClr val="4A70A9"/>
          </a:solidFill>
          <a:ln/>
        </p:spPr>
      </p:sp>
      <p:sp>
        <p:nvSpPr>
          <p:cNvPr id="13" name="Text 11"/>
          <p:cNvSpPr/>
          <p:nvPr/>
        </p:nvSpPr>
        <p:spPr>
          <a:xfrm>
            <a:off x="7223760" y="1463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E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1828800"/>
            <a:ext cx="1828800" cy="822960"/>
          </a:xfrm>
          <a:prstGeom prst="rect">
            <a:avLst/>
          </a:prstGeom>
          <a:solidFill>
            <a:srgbClr val="8FABD4"/>
          </a:solidFill>
          <a:ln w="6350">
            <a:solidFill>
              <a:srgbClr val="4A70A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87452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Abu Awwad et al. (2024)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Anomaly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86000" y="1828800"/>
            <a:ext cx="1645920" cy="822960"/>
          </a:xfrm>
          <a:prstGeom prst="rect">
            <a:avLst/>
          </a:prstGeom>
          <a:solidFill>
            <a:srgbClr val="8FABD4">
              <a:alpha val="70000"/>
            </a:srgbClr>
          </a:solidFill>
          <a:ln w="6350">
            <a:solidFill>
              <a:srgbClr val="4A70A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31720" y="187452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camera anomaly detection under low-light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931920" y="1828800"/>
            <a:ext cx="1645920" cy="822960"/>
          </a:xfrm>
          <a:prstGeom prst="rect">
            <a:avLst/>
          </a:prstGeom>
          <a:solidFill>
            <a:srgbClr val="8FABD4">
              <a:alpha val="70000"/>
            </a:srgbClr>
          </a:solidFill>
          <a:ln w="6350">
            <a:solidFill>
              <a:srgbClr val="4A70A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77640" y="187452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Pre-identify signal triggers inference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577840" y="1828800"/>
            <a:ext cx="1645920" cy="822960"/>
          </a:xfrm>
          <a:prstGeom prst="rect">
            <a:avLst/>
          </a:prstGeom>
          <a:solidFill>
            <a:srgbClr val="8FABD4">
              <a:alpha val="70000"/>
            </a:srgbClr>
          </a:solidFill>
          <a:ln w="6350">
            <a:solidFill>
              <a:srgbClr val="4A70A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23560" y="187452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Event-triggered processing, privacy via low quality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223760" y="1828800"/>
            <a:ext cx="1645920" cy="822960"/>
          </a:xfrm>
          <a:prstGeom prst="rect">
            <a:avLst/>
          </a:prstGeom>
          <a:solidFill>
            <a:srgbClr val="8FABD4">
              <a:alpha val="70000"/>
            </a:srgbClr>
          </a:solidFill>
          <a:ln w="6350">
            <a:solidFill>
              <a:srgbClr val="4A70A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69480" y="187452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inadequacy, limited training images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2651760"/>
            <a:ext cx="1828800" cy="822960"/>
          </a:xfrm>
          <a:prstGeom prst="rect">
            <a:avLst/>
          </a:prstGeom>
          <a:solidFill>
            <a:srgbClr val="EFECE3"/>
          </a:solidFill>
          <a:ln w="6350">
            <a:solidFill>
              <a:srgbClr val="4A70A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26974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 et al. (2024)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Surveillance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286000" y="2651760"/>
            <a:ext cx="1645920" cy="822960"/>
          </a:xfrm>
          <a:prstGeom prst="rect">
            <a:avLst/>
          </a:prstGeom>
          <a:solidFill>
            <a:srgbClr val="EFECE3">
              <a:alpha val="70000"/>
            </a:srgbClr>
          </a:solidFill>
          <a:ln w="6350">
            <a:solidFill>
              <a:srgbClr val="4A70A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31720" y="269748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Edge-enabled abnormal activity recognition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931920" y="2651760"/>
            <a:ext cx="1645920" cy="822960"/>
          </a:xfrm>
          <a:prstGeom prst="rect">
            <a:avLst/>
          </a:prstGeom>
          <a:solidFill>
            <a:srgbClr val="EFECE3">
              <a:alpha val="70000"/>
            </a:srgbClr>
          </a:solidFill>
          <a:ln w="6350">
            <a:solidFill>
              <a:srgbClr val="4A70A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77640" y="269748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CNN/Bi-LSTM on Raspberry Pi 4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577840" y="2651760"/>
            <a:ext cx="1645920" cy="822960"/>
          </a:xfrm>
          <a:prstGeom prst="rect">
            <a:avLst/>
          </a:prstGeom>
          <a:solidFill>
            <a:srgbClr val="EFECE3">
              <a:alpha val="70000"/>
            </a:srgbClr>
          </a:solidFill>
          <a:ln w="6350">
            <a:solidFill>
              <a:srgbClr val="4A70A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23560" y="269748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13-class anomaly system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223760" y="2651760"/>
            <a:ext cx="1645920" cy="822960"/>
          </a:xfrm>
          <a:prstGeom prst="rect">
            <a:avLst/>
          </a:prstGeom>
          <a:solidFill>
            <a:srgbClr val="EFECE3">
              <a:alpha val="70000"/>
            </a:srgbClr>
          </a:solidFill>
          <a:ln w="6350">
            <a:solidFill>
              <a:srgbClr val="4A70A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69480" y="269748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Assumes Wi-Fi/cloud connectivity, lacks modularity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3474720"/>
            <a:ext cx="1828800" cy="822960"/>
          </a:xfrm>
          <a:prstGeom prst="rect">
            <a:avLst/>
          </a:prstGeom>
          <a:solidFill>
            <a:srgbClr val="8FABD4"/>
          </a:solidFill>
          <a:ln w="6350">
            <a:solidFill>
              <a:srgbClr val="4A70A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35204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Duong et al. (2023)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Anomaly Survey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0" y="3474720"/>
            <a:ext cx="1645920" cy="822960"/>
          </a:xfrm>
          <a:prstGeom prst="rect">
            <a:avLst/>
          </a:prstGeom>
          <a:solidFill>
            <a:srgbClr val="8FABD4">
              <a:alpha val="70000"/>
            </a:srgbClr>
          </a:solidFill>
          <a:ln w="6350">
            <a:solidFill>
              <a:srgbClr val="4A70A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331720" y="352044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Survey deep learning video anomaly detection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931920" y="3474720"/>
            <a:ext cx="1645920" cy="822960"/>
          </a:xfrm>
          <a:prstGeom prst="rect">
            <a:avLst/>
          </a:prstGeom>
          <a:solidFill>
            <a:srgbClr val="8FABD4">
              <a:alpha val="70000"/>
            </a:srgbClr>
          </a:solidFill>
          <a:ln w="6350">
            <a:solidFill>
              <a:srgbClr val="4A70A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977640" y="352044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processing analysis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577840" y="3474720"/>
            <a:ext cx="1645920" cy="822960"/>
          </a:xfrm>
          <a:prstGeom prst="rect">
            <a:avLst/>
          </a:prstGeom>
          <a:solidFill>
            <a:srgbClr val="8FABD4">
              <a:alpha val="70000"/>
            </a:srgbClr>
          </a:solidFill>
          <a:ln w="6350">
            <a:solidFill>
              <a:srgbClr val="4A70A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23560" y="352044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computational cost as barrier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223760" y="3474720"/>
            <a:ext cx="1645920" cy="822960"/>
          </a:xfrm>
          <a:prstGeom prst="rect">
            <a:avLst/>
          </a:prstGeom>
          <a:solidFill>
            <a:srgbClr val="8FABD4">
              <a:alpha val="70000"/>
            </a:srgbClr>
          </a:solidFill>
          <a:ln w="6350">
            <a:solidFill>
              <a:srgbClr val="4A70A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69480" y="352044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processing highly power-hungry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7200" y="4297680"/>
            <a:ext cx="1828800" cy="822960"/>
          </a:xfrm>
          <a:prstGeom prst="rect">
            <a:avLst/>
          </a:prstGeom>
          <a:solidFill>
            <a:srgbClr val="EFECE3"/>
          </a:solidFill>
          <a:ln w="6350">
            <a:solidFill>
              <a:srgbClr val="4A70A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" y="434340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Nasir et al. (2025)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YOLOv8 Crowd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286000" y="4297680"/>
            <a:ext cx="1645920" cy="822960"/>
          </a:xfrm>
          <a:prstGeom prst="rect">
            <a:avLst/>
          </a:prstGeom>
          <a:solidFill>
            <a:srgbClr val="EFECE3">
              <a:alpha val="70000"/>
            </a:srgbClr>
          </a:solidFill>
          <a:ln w="6350">
            <a:solidFill>
              <a:srgbClr val="4A70A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331720" y="434340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crowd abnormal behavior detection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931920" y="4297680"/>
            <a:ext cx="1645920" cy="822960"/>
          </a:xfrm>
          <a:prstGeom prst="rect">
            <a:avLst/>
          </a:prstGeom>
          <a:solidFill>
            <a:srgbClr val="EFECE3">
              <a:alpha val="70000"/>
            </a:srgbClr>
          </a:solidFill>
          <a:ln w="6350">
            <a:solidFill>
              <a:srgbClr val="4A70A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977640" y="434340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YOLOv8 with Soft-NMS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577840" y="4297680"/>
            <a:ext cx="1645920" cy="822960"/>
          </a:xfrm>
          <a:prstGeom prst="rect">
            <a:avLst/>
          </a:prstGeom>
          <a:solidFill>
            <a:srgbClr val="EFECE3">
              <a:alpha val="70000"/>
            </a:srgbClr>
          </a:solidFill>
          <a:ln w="6350">
            <a:solidFill>
              <a:srgbClr val="4A70A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623560" y="434340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Hajj pilgrimage deployment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223760" y="4297680"/>
            <a:ext cx="1645920" cy="822960"/>
          </a:xfrm>
          <a:prstGeom prst="rect">
            <a:avLst/>
          </a:prstGeom>
          <a:solidFill>
            <a:srgbClr val="EFECE3">
              <a:alpha val="70000"/>
            </a:srgbClr>
          </a:solidFill>
          <a:ln w="6350">
            <a:solidFill>
              <a:srgbClr val="4A70A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269480" y="434340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High-infrastructure deployment context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EC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4A70A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LITERATURE REVIEW: OPTIMIZATION &amp; COMPRESSION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371600" cy="45720"/>
          </a:xfrm>
          <a:prstGeom prst="rect">
            <a:avLst/>
          </a:prstGeom>
          <a:solidFill>
            <a:srgbClr val="4A70A9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63040"/>
            <a:ext cx="1828800" cy="365760"/>
          </a:xfrm>
          <a:prstGeom prst="rect">
            <a:avLst/>
          </a:prstGeom>
          <a:solidFill>
            <a:srgbClr val="4A70A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E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/ Author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0" y="1463040"/>
            <a:ext cx="1645920" cy="365760"/>
          </a:xfrm>
          <a:prstGeom prst="rect">
            <a:avLst/>
          </a:prstGeom>
          <a:solidFill>
            <a:srgbClr val="4A70A9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1463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E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931920" y="1463040"/>
            <a:ext cx="1645920" cy="365760"/>
          </a:xfrm>
          <a:prstGeom prst="rect">
            <a:avLst/>
          </a:prstGeom>
          <a:solidFill>
            <a:srgbClr val="4A70A9"/>
          </a:solidFill>
          <a:ln/>
        </p:spPr>
      </p:sp>
      <p:sp>
        <p:nvSpPr>
          <p:cNvPr id="9" name="Text 7"/>
          <p:cNvSpPr/>
          <p:nvPr/>
        </p:nvSpPr>
        <p:spPr>
          <a:xfrm>
            <a:off x="3931920" y="1463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E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577840" y="1463040"/>
            <a:ext cx="1645920" cy="365760"/>
          </a:xfrm>
          <a:prstGeom prst="rect">
            <a:avLst/>
          </a:prstGeom>
          <a:solidFill>
            <a:srgbClr val="4A70A9"/>
          </a:solidFill>
          <a:ln/>
        </p:spPr>
      </p:sp>
      <p:sp>
        <p:nvSpPr>
          <p:cNvPr id="11" name="Text 9"/>
          <p:cNvSpPr/>
          <p:nvPr/>
        </p:nvSpPr>
        <p:spPr>
          <a:xfrm>
            <a:off x="5577840" y="1463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E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223760" y="1463040"/>
            <a:ext cx="1645920" cy="365760"/>
          </a:xfrm>
          <a:prstGeom prst="rect">
            <a:avLst/>
          </a:prstGeom>
          <a:solidFill>
            <a:srgbClr val="4A70A9"/>
          </a:solidFill>
          <a:ln/>
        </p:spPr>
      </p:sp>
      <p:sp>
        <p:nvSpPr>
          <p:cNvPr id="13" name="Text 11"/>
          <p:cNvSpPr/>
          <p:nvPr/>
        </p:nvSpPr>
        <p:spPr>
          <a:xfrm>
            <a:off x="7223760" y="1463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E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1828800"/>
            <a:ext cx="1828800" cy="822960"/>
          </a:xfrm>
          <a:prstGeom prst="rect">
            <a:avLst/>
          </a:prstGeom>
          <a:solidFill>
            <a:srgbClr val="8FABD4"/>
          </a:solidFill>
          <a:ln w="6350">
            <a:solidFill>
              <a:srgbClr val="4A70A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87452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Gholami et al. (2021)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Quantization Survey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86000" y="1828800"/>
            <a:ext cx="1645920" cy="822960"/>
          </a:xfrm>
          <a:prstGeom prst="rect">
            <a:avLst/>
          </a:prstGeom>
          <a:solidFill>
            <a:srgbClr val="8FABD4">
              <a:alpha val="70000"/>
            </a:srgbClr>
          </a:solidFill>
          <a:ln w="6350">
            <a:solidFill>
              <a:srgbClr val="4A70A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31720" y="187452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Survey neural network quantization methods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931920" y="1828800"/>
            <a:ext cx="1645920" cy="822960"/>
          </a:xfrm>
          <a:prstGeom prst="rect">
            <a:avLst/>
          </a:prstGeom>
          <a:solidFill>
            <a:srgbClr val="8FABD4">
              <a:alpha val="70000"/>
            </a:srgbClr>
          </a:solidFill>
          <a:ln w="6350">
            <a:solidFill>
              <a:srgbClr val="4A70A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77640" y="187452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Uniform/non-uniform, mixed-precision analysis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577840" y="1828800"/>
            <a:ext cx="1645920" cy="822960"/>
          </a:xfrm>
          <a:prstGeom prst="rect">
            <a:avLst/>
          </a:prstGeom>
          <a:solidFill>
            <a:srgbClr val="8FABD4">
              <a:alpha val="70000"/>
            </a:srgbClr>
          </a:solidFill>
          <a:ln w="6350">
            <a:solidFill>
              <a:srgbClr val="4A70A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23560" y="187452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INT8 30x more energy efficient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223760" y="1828800"/>
            <a:ext cx="1645920" cy="822960"/>
          </a:xfrm>
          <a:prstGeom prst="rect">
            <a:avLst/>
          </a:prstGeom>
          <a:solidFill>
            <a:srgbClr val="8FABD4">
              <a:alpha val="70000"/>
            </a:srgbClr>
          </a:solidFill>
          <a:ln w="6350">
            <a:solidFill>
              <a:srgbClr val="4A70A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69480" y="187452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Severe degradation for 1-bit models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2651760"/>
            <a:ext cx="1828800" cy="822960"/>
          </a:xfrm>
          <a:prstGeom prst="rect">
            <a:avLst/>
          </a:prstGeom>
          <a:solidFill>
            <a:srgbClr val="EFECE3"/>
          </a:solidFill>
          <a:ln w="6350">
            <a:solidFill>
              <a:srgbClr val="4A70A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26974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Batzner et al. (2023)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EfficientAD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286000" y="2651760"/>
            <a:ext cx="1645920" cy="822960"/>
          </a:xfrm>
          <a:prstGeom prst="rect">
            <a:avLst/>
          </a:prstGeom>
          <a:solidFill>
            <a:srgbClr val="EFECE3">
              <a:alpha val="70000"/>
            </a:srgbClr>
          </a:solidFill>
          <a:ln w="6350">
            <a:solidFill>
              <a:srgbClr val="4A70A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31720" y="269748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Millisecond-level anomaly detection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931920" y="2651760"/>
            <a:ext cx="1645920" cy="822960"/>
          </a:xfrm>
          <a:prstGeom prst="rect">
            <a:avLst/>
          </a:prstGeom>
          <a:solidFill>
            <a:srgbClr val="EFECE3">
              <a:alpha val="70000"/>
            </a:srgbClr>
          </a:solidFill>
          <a:ln w="6350">
            <a:solidFill>
              <a:srgbClr val="4A70A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77640" y="269748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 Description Network + autoencoder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577840" y="2651760"/>
            <a:ext cx="1645920" cy="822960"/>
          </a:xfrm>
          <a:prstGeom prst="rect">
            <a:avLst/>
          </a:prstGeom>
          <a:solidFill>
            <a:srgbClr val="EFECE3">
              <a:alpha val="70000"/>
            </a:srgbClr>
          </a:solidFill>
          <a:ln w="6350">
            <a:solidFill>
              <a:srgbClr val="4A70A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23560" y="269748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2ms latency, 95.4-96% AU-ROC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223760" y="2651760"/>
            <a:ext cx="1645920" cy="822960"/>
          </a:xfrm>
          <a:prstGeom prst="rect">
            <a:avLst/>
          </a:prstGeom>
          <a:solidFill>
            <a:srgbClr val="EFECE3">
              <a:alpha val="70000"/>
            </a:srgbClr>
          </a:solidFill>
          <a:ln w="6350">
            <a:solidFill>
              <a:srgbClr val="4A70A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69480" y="269748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GPU-dependent for millisecond speeds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3474720"/>
            <a:ext cx="1828800" cy="822960"/>
          </a:xfrm>
          <a:prstGeom prst="rect">
            <a:avLst/>
          </a:prstGeom>
          <a:solidFill>
            <a:srgbClr val="8FABD4"/>
          </a:solidFill>
          <a:ln w="6350">
            <a:solidFill>
              <a:srgbClr val="4A70A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35204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Cheng et al. (2018)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Compression Survey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0" y="3474720"/>
            <a:ext cx="1645920" cy="822960"/>
          </a:xfrm>
          <a:prstGeom prst="rect">
            <a:avLst/>
          </a:prstGeom>
          <a:solidFill>
            <a:srgbClr val="8FABD4">
              <a:alpha val="70000"/>
            </a:srgbClr>
          </a:solidFill>
          <a:ln w="6350">
            <a:solidFill>
              <a:srgbClr val="4A70A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331720" y="352044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Survey model compression &amp; acceleration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931920" y="3474720"/>
            <a:ext cx="1645920" cy="822960"/>
          </a:xfrm>
          <a:prstGeom prst="rect">
            <a:avLst/>
          </a:prstGeom>
          <a:solidFill>
            <a:srgbClr val="8FABD4">
              <a:alpha val="70000"/>
            </a:srgbClr>
          </a:solidFill>
          <a:ln w="6350">
            <a:solidFill>
              <a:srgbClr val="4A70A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977640" y="352044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Pruning, quantization, distillation, factorization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577840" y="3474720"/>
            <a:ext cx="1645920" cy="822960"/>
          </a:xfrm>
          <a:prstGeom prst="rect">
            <a:avLst/>
          </a:prstGeom>
          <a:solidFill>
            <a:srgbClr val="8FABD4">
              <a:alpha val="70000"/>
            </a:srgbClr>
          </a:solidFill>
          <a:ln w="6350">
            <a:solidFill>
              <a:srgbClr val="4A70A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23560" y="352044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35-49x size reduction, 4.5x speedup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223760" y="3474720"/>
            <a:ext cx="1645920" cy="822960"/>
          </a:xfrm>
          <a:prstGeom prst="rect">
            <a:avLst/>
          </a:prstGeom>
          <a:solidFill>
            <a:srgbClr val="8FABD4">
              <a:alpha val="70000"/>
            </a:srgbClr>
          </a:solidFill>
          <a:ln w="6350">
            <a:solidFill>
              <a:srgbClr val="4A70A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69480" y="352044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Instability, configuration difficulty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EC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4A70A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RESEARCH MOTIVATION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371600" cy="45720"/>
          </a:xfrm>
          <a:prstGeom prst="rect">
            <a:avLst/>
          </a:prstGeom>
          <a:solidFill>
            <a:srgbClr val="4A70A9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645920"/>
            <a:ext cx="3840480" cy="1097280"/>
          </a:xfrm>
          <a:prstGeom prst="rect">
            <a:avLst/>
          </a:prstGeom>
          <a:solidFill>
            <a:srgbClr val="8FABD4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70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Constraints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Unstable electrical power in Nigeria requires solar-assisted operation</a:t>
            </a:r>
            <a:endParaRPr lang="en-US" sz="16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Unreliable broadband infrastructure requires GSM-primary communication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754880" y="1645920"/>
            <a:ext cx="3840480" cy="1097280"/>
          </a:xfrm>
          <a:prstGeom prst="rect">
            <a:avLst/>
          </a:prstGeom>
          <a:solidFill>
            <a:srgbClr val="EFECE3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691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70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Gaps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01168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systems assume stable power/connectivity (Ali et al., 2024)</a:t>
            </a:r>
            <a:endParaRPr lang="en-US" sz="16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Multi-indicator systems rare on edge hardware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8046720" cy="1097280"/>
          </a:xfrm>
          <a:prstGeom prst="rect">
            <a:avLst/>
          </a:prstGeom>
          <a:solidFill>
            <a:srgbClr val="8FABD4">
              <a:alpha val="3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9718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70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Underrepresented Context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329184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Sub-Saharan African deployment contexts absent from literature</a:t>
            </a:r>
            <a:endParaRPr lang="en-US" sz="16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for infrastructure-independent, autonomous surveillance with privacy preservation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EC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4A70A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RESEARCH OBJECTIVES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371600" cy="45720"/>
          </a:xfrm>
          <a:prstGeom prst="rect">
            <a:avLst/>
          </a:prstGeom>
          <a:solidFill>
            <a:srgbClr val="4A70A9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645920"/>
            <a:ext cx="8046720" cy="457200"/>
          </a:xfrm>
          <a:prstGeom prst="rect">
            <a:avLst/>
          </a:prstGeom>
          <a:solidFill>
            <a:srgbClr val="4A70A9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70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OBJECTIVE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resilient, infrastructure-independent edge surveillance system with modular multi-indicator detection for 24/7 autonomous operation under power/connectivity constraints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70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SUB-OBJECTIVES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 person detection under IR imaging conditions</a:t>
            </a:r>
            <a:endParaRPr lang="en-US" sz="16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Lightweight multi-object tracking (benchmarked selection)</a:t>
            </a:r>
            <a:endParaRPr lang="en-US" sz="16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modular behavioral indicators (runtime-configurable)</a:t>
            </a:r>
            <a:endParaRPr lang="en-US" sz="16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Solar-assisted power architecture (~120-130 Wh/day)</a:t>
            </a:r>
            <a:endParaRPr lang="en-US" sz="16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Three-tier communication (GSM/Wi-Fi/SMS)</a:t>
            </a:r>
            <a:endParaRPr lang="en-US" sz="16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Event-driven dual-state compute model</a:t>
            </a:r>
            <a:endParaRPr lang="en-US" sz="16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Raspberry Pi 5 optimization via quantization/pruning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EC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4A70A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METHODOLOGY I: DEVELOPMENT APPROACH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371600" cy="45720"/>
          </a:xfrm>
          <a:prstGeom prst="rect">
            <a:avLst/>
          </a:prstGeom>
          <a:solidFill>
            <a:srgbClr val="4A70A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5544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70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 DEVELOPMENT WITH VALIDATION MILESTONES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651760" cy="914400"/>
          </a:xfrm>
          <a:prstGeom prst="rect">
            <a:avLst/>
          </a:prstGeom>
          <a:solidFill>
            <a:srgbClr val="8FABD4">
              <a:alpha val="50000"/>
            </a:srgbClr>
          </a:solidFill>
          <a:ln w="25400">
            <a:solidFill>
              <a:srgbClr val="4A70A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65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70A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97280" y="19659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0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Evaluation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2286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YOLOv5n/v8n/EfficientDet-D0, ByteTrack/DeepSORT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18688" y="2304288"/>
            <a:ext cx="146304" cy="146304"/>
          </a:xfrm>
          <a:prstGeom prst="rightArrow">
            <a:avLst/>
          </a:prstGeom>
          <a:solidFill>
            <a:srgbClr val="4A70A9"/>
          </a:solidFill>
          <a:ln/>
        </p:spPr>
      </p:sp>
      <p:sp>
        <p:nvSpPr>
          <p:cNvPr id="10" name="Shape 8"/>
          <p:cNvSpPr/>
          <p:nvPr/>
        </p:nvSpPr>
        <p:spPr>
          <a:xfrm>
            <a:off x="3383280" y="1920240"/>
            <a:ext cx="2651760" cy="914400"/>
          </a:xfrm>
          <a:prstGeom prst="rect">
            <a:avLst/>
          </a:prstGeom>
          <a:solidFill>
            <a:srgbClr val="4A70A9">
              <a:alpha val="80000"/>
            </a:srgbClr>
          </a:solidFill>
          <a:ln w="25400">
            <a:solidFill>
              <a:srgbClr val="4A70A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965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70A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931920" y="19659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0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Integration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931920" y="2286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detection + tracking pipeline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53328" y="2304288"/>
            <a:ext cx="146304" cy="146304"/>
          </a:xfrm>
          <a:prstGeom prst="rightArrow">
            <a:avLst/>
          </a:prstGeom>
          <a:solidFill>
            <a:srgbClr val="4A70A9"/>
          </a:solidFill>
          <a:ln/>
        </p:spPr>
      </p:sp>
      <p:sp>
        <p:nvSpPr>
          <p:cNvPr id="15" name="Shape 13"/>
          <p:cNvSpPr/>
          <p:nvPr/>
        </p:nvSpPr>
        <p:spPr>
          <a:xfrm>
            <a:off x="6217920" y="1920240"/>
            <a:ext cx="2651760" cy="914400"/>
          </a:xfrm>
          <a:prstGeom prst="rect">
            <a:avLst/>
          </a:prstGeom>
          <a:solidFill>
            <a:srgbClr val="8FABD4">
              <a:alpha val="50000"/>
            </a:srgbClr>
          </a:solidFill>
          <a:ln w="25400">
            <a:solidFill>
              <a:srgbClr val="4A70A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965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70A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766560" y="19659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0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Indicator Development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66560" y="2286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modular behavioral indicators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470648" y="2834640"/>
            <a:ext cx="146304" cy="182880"/>
          </a:xfrm>
          <a:prstGeom prst="downArrow">
            <a:avLst/>
          </a:prstGeom>
          <a:solidFill>
            <a:srgbClr val="4A70A9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3108960"/>
            <a:ext cx="2651760" cy="914400"/>
          </a:xfrm>
          <a:prstGeom prst="rect">
            <a:avLst/>
          </a:prstGeom>
          <a:solidFill>
            <a:srgbClr val="4A70A9">
              <a:alpha val="80000"/>
            </a:srgbClr>
          </a:solidFill>
          <a:ln w="25400">
            <a:solidFill>
              <a:srgbClr val="4A70A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154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70A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097280" y="3154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0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Multi-Indicator Fusion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3474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scoring, threshold optimization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18688" y="3493008"/>
            <a:ext cx="146304" cy="146304"/>
          </a:xfrm>
          <a:prstGeom prst="rightArrow">
            <a:avLst/>
          </a:prstGeom>
          <a:solidFill>
            <a:srgbClr val="4A70A9"/>
          </a:solidFill>
          <a:ln/>
        </p:spPr>
      </p:sp>
      <p:sp>
        <p:nvSpPr>
          <p:cNvPr id="25" name="Shape 23"/>
          <p:cNvSpPr/>
          <p:nvPr/>
        </p:nvSpPr>
        <p:spPr>
          <a:xfrm>
            <a:off x="3383280" y="3108960"/>
            <a:ext cx="2651760" cy="914400"/>
          </a:xfrm>
          <a:prstGeom prst="rect">
            <a:avLst/>
          </a:prstGeom>
          <a:solidFill>
            <a:srgbClr val="8FABD4">
              <a:alpha val="50000"/>
            </a:srgbClr>
          </a:solidFill>
          <a:ln w="25400">
            <a:solidFill>
              <a:srgbClr val="4A70A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3154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70A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3931920" y="3154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0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Optimization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931920" y="3474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integration, quantization, power validation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53328" y="3493008"/>
            <a:ext cx="146304" cy="146304"/>
          </a:xfrm>
          <a:prstGeom prst="rightArrow">
            <a:avLst/>
          </a:prstGeom>
          <a:solidFill>
            <a:srgbClr val="4A70A9"/>
          </a:solidFill>
          <a:ln/>
        </p:spPr>
      </p:sp>
      <p:sp>
        <p:nvSpPr>
          <p:cNvPr id="30" name="Shape 28"/>
          <p:cNvSpPr/>
          <p:nvPr/>
        </p:nvSpPr>
        <p:spPr>
          <a:xfrm>
            <a:off x="6217920" y="3108960"/>
            <a:ext cx="2651760" cy="914400"/>
          </a:xfrm>
          <a:prstGeom prst="rect">
            <a:avLst/>
          </a:prstGeom>
          <a:solidFill>
            <a:srgbClr val="4A70A9">
              <a:alpha val="80000"/>
            </a:srgbClr>
          </a:solidFill>
          <a:ln w="25400">
            <a:solidFill>
              <a:srgbClr val="4A70A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3154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70A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6766560" y="3154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0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Testing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766560" y="3474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validation in Nigerian context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FEC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4A70A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METHODOLOGY II: PHYSICAL 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371600" cy="45720"/>
          </a:xfrm>
          <a:prstGeom prst="rect">
            <a:avLst/>
          </a:prstGeom>
          <a:solidFill>
            <a:srgbClr val="4A70A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5544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70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TOPOLOGY: POWER &amp; SENSOR PATH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1097280" cy="731520"/>
          </a:xfrm>
          <a:prstGeom prst="rect">
            <a:avLst/>
          </a:prstGeom>
          <a:solidFill>
            <a:srgbClr val="8FABD4"/>
          </a:solidFill>
          <a:ln w="25400">
            <a:solidFill>
              <a:srgbClr val="4A70A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10312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40W Solar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65376" y="2395728"/>
            <a:ext cx="292608" cy="146304"/>
          </a:xfrm>
          <a:prstGeom prst="rightArrow">
            <a:avLst/>
          </a:prstGeom>
          <a:solidFill>
            <a:srgbClr val="4A70A9"/>
          </a:solidFill>
          <a:ln/>
        </p:spPr>
      </p:sp>
      <p:sp>
        <p:nvSpPr>
          <p:cNvPr id="8" name="Shape 6"/>
          <p:cNvSpPr/>
          <p:nvPr/>
        </p:nvSpPr>
        <p:spPr>
          <a:xfrm>
            <a:off x="2011680" y="2103120"/>
            <a:ext cx="1097280" cy="731520"/>
          </a:xfrm>
          <a:prstGeom prst="rect">
            <a:avLst/>
          </a:prstGeom>
          <a:solidFill>
            <a:srgbClr val="8FABD4"/>
          </a:solidFill>
          <a:ln w="25400">
            <a:solidFill>
              <a:srgbClr val="4A70A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0" y="210312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MPPT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45536" y="2395728"/>
            <a:ext cx="292608" cy="146304"/>
          </a:xfrm>
          <a:prstGeom prst="rightArrow">
            <a:avLst/>
          </a:prstGeom>
          <a:solidFill>
            <a:srgbClr val="4A70A9"/>
          </a:solidFill>
          <a:ln/>
        </p:spPr>
      </p:sp>
      <p:sp>
        <p:nvSpPr>
          <p:cNvPr id="11" name="Shape 9"/>
          <p:cNvSpPr/>
          <p:nvPr/>
        </p:nvSpPr>
        <p:spPr>
          <a:xfrm>
            <a:off x="3291840" y="2103120"/>
            <a:ext cx="1097280" cy="731520"/>
          </a:xfrm>
          <a:prstGeom prst="rect">
            <a:avLst/>
          </a:prstGeom>
          <a:solidFill>
            <a:srgbClr val="8FABD4"/>
          </a:solidFill>
          <a:ln w="25400">
            <a:solidFill>
              <a:srgbClr val="4A70A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210312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12V 20Ah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25696" y="2395728"/>
            <a:ext cx="292608" cy="146304"/>
          </a:xfrm>
          <a:prstGeom prst="rightArrow">
            <a:avLst/>
          </a:prstGeom>
          <a:solidFill>
            <a:srgbClr val="4A70A9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0" y="2103120"/>
            <a:ext cx="1097280" cy="731520"/>
          </a:xfrm>
          <a:prstGeom prst="rect">
            <a:avLst/>
          </a:prstGeom>
          <a:solidFill>
            <a:srgbClr val="8FABD4"/>
          </a:solidFill>
          <a:ln w="25400">
            <a:solidFill>
              <a:srgbClr val="4A70A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210312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Buck Conv.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12V→5V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705856" y="2395728"/>
            <a:ext cx="292608" cy="146304"/>
          </a:xfrm>
          <a:prstGeom prst="rightArrow">
            <a:avLst/>
          </a:prstGeom>
          <a:solidFill>
            <a:srgbClr val="4A70A9"/>
          </a:solidFill>
          <a:ln/>
        </p:spPr>
      </p:sp>
      <p:sp>
        <p:nvSpPr>
          <p:cNvPr id="17" name="Shape 15"/>
          <p:cNvSpPr/>
          <p:nvPr/>
        </p:nvSpPr>
        <p:spPr>
          <a:xfrm>
            <a:off x="5852160" y="2103120"/>
            <a:ext cx="1097280" cy="731520"/>
          </a:xfrm>
          <a:prstGeom prst="rect">
            <a:avLst/>
          </a:prstGeom>
          <a:solidFill>
            <a:srgbClr val="4A70A9"/>
          </a:solidFill>
          <a:ln w="25400">
            <a:solidFill>
              <a:srgbClr val="4A70A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52160" y="210312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E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Raspberry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FE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 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31089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70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INPUTS/OUTPUTS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828800" y="3474720"/>
            <a:ext cx="1188720" cy="548640"/>
          </a:xfrm>
          <a:prstGeom prst="roundRect">
            <a:avLst>
              <a:gd name="adj" fmla="val 16667"/>
            </a:avLst>
          </a:prstGeom>
          <a:solidFill>
            <a:srgbClr val="EFECE3"/>
          </a:solidFill>
          <a:ln w="19050">
            <a:solidFill>
              <a:srgbClr val="4A70A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0" y="347472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PIR Sensor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(GPIO)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423160" y="3474720"/>
            <a:ext cx="0" cy="-594360"/>
          </a:xfrm>
          <a:prstGeom prst="line">
            <a:avLst/>
          </a:prstGeom>
          <a:noFill/>
          <a:ln w="25400">
            <a:solidFill>
              <a:srgbClr val="4A70A9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4114800" y="3474720"/>
            <a:ext cx="1188720" cy="548640"/>
          </a:xfrm>
          <a:prstGeom prst="roundRect">
            <a:avLst>
              <a:gd name="adj" fmla="val 16667"/>
            </a:avLst>
          </a:prstGeom>
          <a:solidFill>
            <a:srgbClr val="EFECE3"/>
          </a:solidFill>
          <a:ln w="19050">
            <a:solidFill>
              <a:srgbClr val="4A70A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0" y="347472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 Camera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(CSI)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3474720"/>
            <a:ext cx="0" cy="-594360"/>
          </a:xfrm>
          <a:prstGeom prst="line">
            <a:avLst/>
          </a:prstGeom>
          <a:noFill/>
          <a:ln w="25400">
            <a:solidFill>
              <a:srgbClr val="4A70A9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6400800" y="3474720"/>
            <a:ext cx="1188720" cy="548640"/>
          </a:xfrm>
          <a:prstGeom prst="roundRect">
            <a:avLst>
              <a:gd name="adj" fmla="val 16667"/>
            </a:avLst>
          </a:prstGeom>
          <a:solidFill>
            <a:srgbClr val="EFECE3"/>
          </a:solidFill>
          <a:ln w="19050">
            <a:solidFill>
              <a:srgbClr val="4A70A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347472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LTE Modem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(USB)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995160" y="3474720"/>
            <a:ext cx="0" cy="-594360"/>
          </a:xfrm>
          <a:prstGeom prst="line">
            <a:avLst/>
          </a:prstGeom>
          <a:noFill/>
          <a:ln w="25400">
            <a:solidFill>
              <a:srgbClr val="4A70A9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548640" y="42976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4A70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Energy: ~120-130 Wh/day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FEC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4A70A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METHODOLOGY II: LOGICAL 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371600" cy="45720"/>
          </a:xfrm>
          <a:prstGeom prst="rect">
            <a:avLst/>
          </a:prstGeom>
          <a:solidFill>
            <a:srgbClr val="4A70A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5544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70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STRUCTURE: THREE-LAYER MODEL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2011680"/>
            <a:ext cx="7315200" cy="731520"/>
          </a:xfrm>
          <a:prstGeom prst="rect">
            <a:avLst/>
          </a:prstGeom>
          <a:solidFill>
            <a:srgbClr val="4A70A9">
              <a:alpha val="80000"/>
            </a:srgbClr>
          </a:solidFill>
          <a:ln w="25400">
            <a:solidFill>
              <a:srgbClr val="4A70A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05740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E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CONTROL LAYER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2304288"/>
            <a:ext cx="6766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100" dirty="0">
                <a:solidFill>
                  <a:srgbClr val="EFE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Manager</a:t>
            </a:r>
            <a:endParaRPr lang="en-US" sz="11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100" dirty="0">
                <a:solidFill>
                  <a:srgbClr val="EFE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State Controller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14400" y="2743200"/>
            <a:ext cx="7315200" cy="1005840"/>
          </a:xfrm>
          <a:prstGeom prst="rect">
            <a:avLst/>
          </a:prstGeom>
          <a:solidFill>
            <a:srgbClr val="8FABD4">
              <a:alpha val="50000"/>
            </a:srgbClr>
          </a:solidFill>
          <a:ln w="25400">
            <a:solidFill>
              <a:srgbClr val="4A70A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78892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0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PERCEPTION LAYER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3035808"/>
            <a:ext cx="676656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Preprocessing</a:t>
            </a:r>
            <a:endParaRPr lang="en-US" sz="11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 Detection Engine</a:t>
            </a:r>
            <a:endParaRPr lang="en-US" sz="11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Multi-Object Tracking</a:t>
            </a:r>
            <a:endParaRPr lang="en-US" sz="11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 Logic Module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14400" y="3840480"/>
            <a:ext cx="7315200" cy="731520"/>
          </a:xfrm>
          <a:prstGeom prst="rect">
            <a:avLst/>
          </a:prstGeom>
          <a:solidFill>
            <a:srgbClr val="4A70A9">
              <a:alpha val="80000"/>
            </a:srgbClr>
          </a:solidFill>
          <a:ln w="25400">
            <a:solidFill>
              <a:srgbClr val="4A70A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886200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E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LAYER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8720" y="4133088"/>
            <a:ext cx="676656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100" dirty="0">
                <a:solidFill>
                  <a:srgbClr val="EFE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Failover Logic</a:t>
            </a:r>
            <a:endParaRPr lang="en-US" sz="11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100" dirty="0">
                <a:solidFill>
                  <a:srgbClr val="EFE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Dispatch (GSM/Wi-Fi/SMS)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FEC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4A70A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METHODOLOGY II: END-TO-END DATA FLOW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371600" cy="45720"/>
          </a:xfrm>
          <a:prstGeom prst="rect">
            <a:avLst/>
          </a:prstGeom>
          <a:solidFill>
            <a:srgbClr val="4A70A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5544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70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PIPELINE: PIR TRIGGER TO ALERT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777240" cy="548640"/>
          </a:xfrm>
          <a:prstGeom prst="roundRect">
            <a:avLst>
              <a:gd name="adj" fmla="val 13333"/>
            </a:avLst>
          </a:prstGeom>
          <a:solidFill>
            <a:srgbClr val="4A70A9"/>
          </a:solidFill>
          <a:ln w="19050">
            <a:solidFill>
              <a:srgbClr val="4A70A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03120"/>
            <a:ext cx="777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E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PIR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FE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435608" y="2322576"/>
            <a:ext cx="100584" cy="109728"/>
          </a:xfrm>
          <a:prstGeom prst="rightArrow">
            <a:avLst/>
          </a:prstGeom>
          <a:solidFill>
            <a:srgbClr val="4A70A9"/>
          </a:solidFill>
          <a:ln/>
        </p:spPr>
      </p:sp>
      <p:sp>
        <p:nvSpPr>
          <p:cNvPr id="8" name="Shape 6"/>
          <p:cNvSpPr/>
          <p:nvPr/>
        </p:nvSpPr>
        <p:spPr>
          <a:xfrm>
            <a:off x="1554480" y="2103120"/>
            <a:ext cx="777240" cy="548640"/>
          </a:xfrm>
          <a:prstGeom prst="roundRect">
            <a:avLst>
              <a:gd name="adj" fmla="val 13333"/>
            </a:avLst>
          </a:prstGeom>
          <a:solidFill>
            <a:srgbClr val="8FABD4">
              <a:alpha val="60000"/>
            </a:srgbClr>
          </a:solidFill>
          <a:ln w="19050">
            <a:solidFill>
              <a:srgbClr val="4A70A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54480" y="2103120"/>
            <a:ext cx="777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350008" y="2322576"/>
            <a:ext cx="100584" cy="109728"/>
          </a:xfrm>
          <a:prstGeom prst="rightArrow">
            <a:avLst/>
          </a:prstGeom>
          <a:solidFill>
            <a:srgbClr val="4A70A9"/>
          </a:solidFill>
          <a:ln/>
        </p:spPr>
      </p:sp>
      <p:sp>
        <p:nvSpPr>
          <p:cNvPr id="11" name="Shape 9"/>
          <p:cNvSpPr/>
          <p:nvPr/>
        </p:nvSpPr>
        <p:spPr>
          <a:xfrm>
            <a:off x="2468880" y="2103120"/>
            <a:ext cx="777240" cy="548640"/>
          </a:xfrm>
          <a:prstGeom prst="roundRect">
            <a:avLst>
              <a:gd name="adj" fmla="val 13333"/>
            </a:avLst>
          </a:prstGeom>
          <a:solidFill>
            <a:srgbClr val="8FABD4">
              <a:alpha val="60000"/>
            </a:srgbClr>
          </a:solidFill>
          <a:ln w="19050">
            <a:solidFill>
              <a:srgbClr val="4A70A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2103120"/>
            <a:ext cx="777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64408" y="2322576"/>
            <a:ext cx="100584" cy="109728"/>
          </a:xfrm>
          <a:prstGeom prst="rightArrow">
            <a:avLst/>
          </a:prstGeom>
          <a:solidFill>
            <a:srgbClr val="4A70A9"/>
          </a:solidFill>
          <a:ln/>
        </p:spPr>
      </p:sp>
      <p:sp>
        <p:nvSpPr>
          <p:cNvPr id="14" name="Shape 12"/>
          <p:cNvSpPr/>
          <p:nvPr/>
        </p:nvSpPr>
        <p:spPr>
          <a:xfrm>
            <a:off x="3383280" y="2103120"/>
            <a:ext cx="777240" cy="548640"/>
          </a:xfrm>
          <a:prstGeom prst="roundRect">
            <a:avLst>
              <a:gd name="adj" fmla="val 13333"/>
            </a:avLst>
          </a:prstGeom>
          <a:solidFill>
            <a:srgbClr val="8FABD4">
              <a:alpha val="60000"/>
            </a:srgbClr>
          </a:solidFill>
          <a:ln w="19050">
            <a:solidFill>
              <a:srgbClr val="4A70A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2103120"/>
            <a:ext cx="777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Preproc.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78808" y="2322576"/>
            <a:ext cx="100584" cy="109728"/>
          </a:xfrm>
          <a:prstGeom prst="rightArrow">
            <a:avLst/>
          </a:prstGeom>
          <a:solidFill>
            <a:srgbClr val="4A70A9"/>
          </a:solidFill>
          <a:ln/>
        </p:spPr>
      </p:sp>
      <p:sp>
        <p:nvSpPr>
          <p:cNvPr id="17" name="Shape 15"/>
          <p:cNvSpPr/>
          <p:nvPr/>
        </p:nvSpPr>
        <p:spPr>
          <a:xfrm>
            <a:off x="4297680" y="2103120"/>
            <a:ext cx="777240" cy="548640"/>
          </a:xfrm>
          <a:prstGeom prst="roundRect">
            <a:avLst>
              <a:gd name="adj" fmla="val 13333"/>
            </a:avLst>
          </a:prstGeom>
          <a:solidFill>
            <a:srgbClr val="8FABD4">
              <a:alpha val="60000"/>
            </a:srgbClr>
          </a:solidFill>
          <a:ln w="19050">
            <a:solidFill>
              <a:srgbClr val="4A70A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0" y="2103120"/>
            <a:ext cx="777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31436" y="2670048"/>
            <a:ext cx="109728" cy="274320"/>
          </a:xfrm>
          <a:prstGeom prst="downArrow">
            <a:avLst/>
          </a:prstGeom>
          <a:solidFill>
            <a:srgbClr val="4A70A9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3017520"/>
            <a:ext cx="777240" cy="548640"/>
          </a:xfrm>
          <a:prstGeom prst="roundRect">
            <a:avLst>
              <a:gd name="adj" fmla="val 13333"/>
            </a:avLst>
          </a:prstGeom>
          <a:solidFill>
            <a:srgbClr val="8FABD4">
              <a:alpha val="60000"/>
            </a:srgbClr>
          </a:solidFill>
          <a:ln w="19050">
            <a:solidFill>
              <a:srgbClr val="4A70A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017520"/>
            <a:ext cx="777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435608" y="3236976"/>
            <a:ext cx="100584" cy="109728"/>
          </a:xfrm>
          <a:prstGeom prst="rightArrow">
            <a:avLst/>
          </a:prstGeom>
          <a:solidFill>
            <a:srgbClr val="4A70A9"/>
          </a:solidFill>
          <a:ln/>
        </p:spPr>
      </p:sp>
      <p:sp>
        <p:nvSpPr>
          <p:cNvPr id="23" name="Shape 21"/>
          <p:cNvSpPr/>
          <p:nvPr/>
        </p:nvSpPr>
        <p:spPr>
          <a:xfrm>
            <a:off x="1554480" y="3017520"/>
            <a:ext cx="777240" cy="548640"/>
          </a:xfrm>
          <a:prstGeom prst="roundRect">
            <a:avLst>
              <a:gd name="adj" fmla="val 13333"/>
            </a:avLst>
          </a:prstGeom>
          <a:solidFill>
            <a:srgbClr val="8FABD4">
              <a:alpha val="60000"/>
            </a:srgbClr>
          </a:solidFill>
          <a:ln w="19050">
            <a:solidFill>
              <a:srgbClr val="4A70A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554480" y="3017520"/>
            <a:ext cx="777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350008" y="3236976"/>
            <a:ext cx="100584" cy="109728"/>
          </a:xfrm>
          <a:prstGeom prst="rightArrow">
            <a:avLst/>
          </a:prstGeom>
          <a:solidFill>
            <a:srgbClr val="4A70A9"/>
          </a:solidFill>
          <a:ln/>
        </p:spPr>
      </p:sp>
      <p:sp>
        <p:nvSpPr>
          <p:cNvPr id="26" name="Shape 24"/>
          <p:cNvSpPr/>
          <p:nvPr/>
        </p:nvSpPr>
        <p:spPr>
          <a:xfrm>
            <a:off x="2468880" y="3017520"/>
            <a:ext cx="777240" cy="548640"/>
          </a:xfrm>
          <a:prstGeom prst="roundRect">
            <a:avLst>
              <a:gd name="adj" fmla="val 13333"/>
            </a:avLst>
          </a:prstGeom>
          <a:solidFill>
            <a:srgbClr val="8FABD4">
              <a:alpha val="60000"/>
            </a:srgbClr>
          </a:solidFill>
          <a:ln w="19050">
            <a:solidFill>
              <a:srgbClr val="4A70A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68880" y="3017520"/>
            <a:ext cx="777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64408" y="3236976"/>
            <a:ext cx="100584" cy="109728"/>
          </a:xfrm>
          <a:prstGeom prst="rightArrow">
            <a:avLst/>
          </a:prstGeom>
          <a:solidFill>
            <a:srgbClr val="4A70A9"/>
          </a:solidFill>
          <a:ln/>
        </p:spPr>
      </p:sp>
      <p:sp>
        <p:nvSpPr>
          <p:cNvPr id="29" name="Shape 27"/>
          <p:cNvSpPr/>
          <p:nvPr/>
        </p:nvSpPr>
        <p:spPr>
          <a:xfrm>
            <a:off x="3383280" y="3017520"/>
            <a:ext cx="777240" cy="548640"/>
          </a:xfrm>
          <a:prstGeom prst="roundRect">
            <a:avLst>
              <a:gd name="adj" fmla="val 13333"/>
            </a:avLst>
          </a:prstGeom>
          <a:solidFill>
            <a:srgbClr val="8FABD4">
              <a:alpha val="60000"/>
            </a:srgbClr>
          </a:solidFill>
          <a:ln w="19050">
            <a:solidFill>
              <a:srgbClr val="4A70A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83280" y="3017520"/>
            <a:ext cx="777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178808" y="3236976"/>
            <a:ext cx="100584" cy="109728"/>
          </a:xfrm>
          <a:prstGeom prst="rightArrow">
            <a:avLst/>
          </a:prstGeom>
          <a:solidFill>
            <a:srgbClr val="4A70A9"/>
          </a:solidFill>
          <a:ln/>
        </p:spPr>
      </p:sp>
      <p:sp>
        <p:nvSpPr>
          <p:cNvPr id="32" name="Shape 30"/>
          <p:cNvSpPr/>
          <p:nvPr/>
        </p:nvSpPr>
        <p:spPr>
          <a:xfrm>
            <a:off x="4297680" y="3017520"/>
            <a:ext cx="777240" cy="548640"/>
          </a:xfrm>
          <a:prstGeom prst="roundRect">
            <a:avLst>
              <a:gd name="adj" fmla="val 13333"/>
            </a:avLst>
          </a:prstGeom>
          <a:solidFill>
            <a:srgbClr val="4A70A9"/>
          </a:solidFill>
          <a:ln w="19050">
            <a:solidFill>
              <a:srgbClr val="4A70A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97680" y="3017520"/>
            <a:ext cx="777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E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FE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FEC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4A70A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METHODOLOGY II: BEHAVIORAL STATE MACHINE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371600" cy="45720"/>
          </a:xfrm>
          <a:prstGeom prst="rect">
            <a:avLst/>
          </a:prstGeom>
          <a:solidFill>
            <a:srgbClr val="4A70A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5544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70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LOGIC: POWER-AWARE AI ACTIVATION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828800" y="2103120"/>
            <a:ext cx="1645920" cy="731520"/>
          </a:xfrm>
          <a:prstGeom prst="roundRect">
            <a:avLst>
              <a:gd name="adj" fmla="val 15000"/>
            </a:avLst>
          </a:prstGeom>
          <a:solidFill>
            <a:srgbClr val="8FABD4">
              <a:alpha val="50000"/>
            </a:srgbClr>
          </a:solidFill>
          <a:ln w="25400">
            <a:solidFill>
              <a:srgbClr val="4A70A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21945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70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Initialization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920240" y="2487168"/>
            <a:ext cx="146304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Boot, load models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28800" y="3200400"/>
            <a:ext cx="1645920" cy="914400"/>
          </a:xfrm>
          <a:prstGeom prst="roundRect">
            <a:avLst>
              <a:gd name="adj" fmla="val 12000"/>
            </a:avLst>
          </a:prstGeom>
          <a:solidFill>
            <a:srgbClr val="4A70A9">
              <a:alpha val="80000"/>
            </a:srgbClr>
          </a:solidFill>
          <a:ln w="25400">
            <a:solidFill>
              <a:srgbClr val="4A70A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20240" y="32918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E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Idle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FE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(Power Save)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920240" y="3584448"/>
            <a:ext cx="1463040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E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PIR active, camera off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FE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throttled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FE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~2-3W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69280" y="3200400"/>
            <a:ext cx="1645920" cy="914400"/>
          </a:xfrm>
          <a:prstGeom prst="roundRect">
            <a:avLst>
              <a:gd name="adj" fmla="val 12000"/>
            </a:avLst>
          </a:prstGeom>
          <a:solidFill>
            <a:srgbClr val="4A70A9">
              <a:alpha val="80000"/>
            </a:srgbClr>
          </a:solidFill>
          <a:ln w="25400">
            <a:solidFill>
              <a:srgbClr val="4A70A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2918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E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FE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(Inference)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760720" y="3584448"/>
            <a:ext cx="1463040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E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on, AI active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FE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+ Tracking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FE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~8-12W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69280" y="2103120"/>
            <a:ext cx="1645920" cy="731520"/>
          </a:xfrm>
          <a:prstGeom prst="roundRect">
            <a:avLst>
              <a:gd name="adj" fmla="val 15000"/>
            </a:avLst>
          </a:prstGeom>
          <a:solidFill>
            <a:srgbClr val="8FABD4">
              <a:alpha val="50000"/>
            </a:srgbClr>
          </a:solidFill>
          <a:ln w="25400">
            <a:solidFill>
              <a:srgbClr val="4A70A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0" y="21945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70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760720" y="2487168"/>
            <a:ext cx="146304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dispatch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96896" y="2852928"/>
            <a:ext cx="109728" cy="274320"/>
          </a:xfrm>
          <a:prstGeom prst="downArrow">
            <a:avLst/>
          </a:prstGeom>
          <a:solidFill>
            <a:srgbClr val="4A70A9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0" y="292608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493008" y="3584448"/>
            <a:ext cx="2103120" cy="146304"/>
          </a:xfrm>
          <a:prstGeom prst="rightArrow">
            <a:avLst/>
          </a:prstGeom>
          <a:solidFill>
            <a:srgbClr val="4A70A9"/>
          </a:solidFill>
          <a:ln/>
        </p:spPr>
      </p:sp>
      <p:sp>
        <p:nvSpPr>
          <p:cNvPr id="20" name="Text 18"/>
          <p:cNvSpPr/>
          <p:nvPr/>
        </p:nvSpPr>
        <p:spPr>
          <a:xfrm>
            <a:off x="3931920" y="329184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PIR Trigger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493008" y="3968496"/>
            <a:ext cx="2103120" cy="146304"/>
          </a:xfrm>
          <a:prstGeom prst="leftArrow">
            <a:avLst/>
          </a:prstGeom>
          <a:solidFill>
            <a:srgbClr val="4A70A9"/>
          </a:solidFill>
          <a:ln/>
        </p:spPr>
      </p:sp>
      <p:sp>
        <p:nvSpPr>
          <p:cNvPr id="22" name="Text 20"/>
          <p:cNvSpPr/>
          <p:nvPr/>
        </p:nvSpPr>
        <p:spPr>
          <a:xfrm>
            <a:off x="3931920" y="4114800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Timeout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37376" y="2103120"/>
            <a:ext cx="109728" cy="-731520"/>
          </a:xfrm>
          <a:prstGeom prst="upArrow">
            <a:avLst/>
          </a:prstGeom>
          <a:solidFill>
            <a:srgbClr val="4A70A9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0" y="18288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Event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FEC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4A70A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METHODOLOGY II: DEPLOYMENT ECOSYSTEM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371600" cy="45720"/>
          </a:xfrm>
          <a:prstGeom prst="rect">
            <a:avLst/>
          </a:prstGeom>
          <a:solidFill>
            <a:srgbClr val="4A70A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5544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70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CONTEXT: EDGE TO CLOUD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371600" y="2286000"/>
            <a:ext cx="1828800" cy="914400"/>
          </a:xfrm>
          <a:prstGeom prst="rect">
            <a:avLst/>
          </a:prstGeom>
          <a:solidFill>
            <a:srgbClr val="4A70A9"/>
          </a:solidFill>
          <a:ln w="25400">
            <a:solidFill>
              <a:srgbClr val="4A70A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22860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E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Device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FE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(Raspberry Pi 5)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0" y="2103120"/>
            <a:ext cx="1828800" cy="548640"/>
          </a:xfrm>
          <a:prstGeom prst="rect">
            <a:avLst/>
          </a:prstGeom>
          <a:solidFill>
            <a:srgbClr val="8FABD4">
              <a:alpha val="60000"/>
            </a:srgbClr>
          </a:solidFill>
          <a:ln w="25400">
            <a:solidFill>
              <a:srgbClr val="4A70A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0" y="21031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Cellular Network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(GSM/LTE)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0" y="2926080"/>
            <a:ext cx="1828800" cy="548640"/>
          </a:xfrm>
          <a:prstGeom prst="rect">
            <a:avLst/>
          </a:prstGeom>
          <a:solidFill>
            <a:srgbClr val="8FABD4">
              <a:alpha val="60000"/>
            </a:srgbClr>
          </a:solidFill>
          <a:ln w="25400">
            <a:solidFill>
              <a:srgbClr val="4A70A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29260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Wi-Fi Network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(Secondary)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0" y="2286000"/>
            <a:ext cx="1828800" cy="914400"/>
          </a:xfrm>
          <a:prstGeom prst="rect">
            <a:avLst/>
          </a:prstGeom>
          <a:solidFill>
            <a:srgbClr val="4A70A9"/>
          </a:solidFill>
          <a:ln w="25400">
            <a:solidFill>
              <a:srgbClr val="4A70A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0" y="22860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E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Alert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EFE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18688" y="2670048"/>
            <a:ext cx="365760" cy="146304"/>
          </a:xfrm>
          <a:prstGeom prst="rightArrow">
            <a:avLst/>
          </a:prstGeom>
          <a:solidFill>
            <a:srgbClr val="4A70A9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237744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70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18688" y="3127248"/>
            <a:ext cx="365760" cy="146304"/>
          </a:xfrm>
          <a:prstGeom prst="rightArrow">
            <a:avLst/>
          </a:prstGeom>
          <a:solidFill>
            <a:srgbClr val="4A70A9"/>
          </a:solidFill>
          <a:ln/>
        </p:spPr>
      </p:sp>
      <p:sp>
        <p:nvSpPr>
          <p:cNvPr id="16" name="Text 14"/>
          <p:cNvSpPr/>
          <p:nvPr/>
        </p:nvSpPr>
        <p:spPr>
          <a:xfrm>
            <a:off x="3154680" y="338328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Fallback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504688" y="2304288"/>
            <a:ext cx="365760" cy="146304"/>
          </a:xfrm>
          <a:prstGeom prst="rightArrow">
            <a:avLst/>
          </a:prstGeom>
          <a:solidFill>
            <a:srgbClr val="4A70A9"/>
          </a:solidFill>
          <a:ln/>
        </p:spPr>
      </p:sp>
      <p:sp>
        <p:nvSpPr>
          <p:cNvPr id="18" name="Shape 16"/>
          <p:cNvSpPr/>
          <p:nvPr/>
        </p:nvSpPr>
        <p:spPr>
          <a:xfrm>
            <a:off x="5504688" y="3127248"/>
            <a:ext cx="365760" cy="146304"/>
          </a:xfrm>
          <a:prstGeom prst="rightArrow">
            <a:avLst/>
          </a:prstGeom>
          <a:solidFill>
            <a:srgbClr val="4A70A9"/>
          </a:solidFill>
          <a:ln/>
        </p:spPr>
      </p:sp>
      <p:sp>
        <p:nvSpPr>
          <p:cNvPr id="19" name="Shape 17"/>
          <p:cNvSpPr/>
          <p:nvPr/>
        </p:nvSpPr>
        <p:spPr>
          <a:xfrm>
            <a:off x="914400" y="3657600"/>
            <a:ext cx="7315200" cy="640080"/>
          </a:xfrm>
          <a:prstGeom prst="rect">
            <a:avLst/>
          </a:prstGeom>
          <a:solidFill>
            <a:srgbClr val="8FABD4">
              <a:alpha val="3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3657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A70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Dashboard (Optional)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FEC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4A70A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EXPECTED CONTRIBUTIONS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371600" cy="45720"/>
          </a:xfrm>
          <a:prstGeom prst="rect">
            <a:avLst/>
          </a:prstGeom>
          <a:solidFill>
            <a:srgbClr val="4A70A9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645920"/>
            <a:ext cx="3840480" cy="365760"/>
          </a:xfrm>
          <a:prstGeom prst="rect">
            <a:avLst/>
          </a:prstGeom>
          <a:solidFill>
            <a:srgbClr val="4A70A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E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NOVEL TECHNICAL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Solar-assisted, GSM-primary resilience architecture</a:t>
            </a:r>
            <a:endParaRPr lang="en-US" sz="16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Runtime-configurable modular indicator system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754880" y="1645920"/>
            <a:ext cx="3840480" cy="365760"/>
          </a:xfrm>
          <a:prstGeom prst="rect">
            <a:avLst/>
          </a:prstGeom>
          <a:solidFill>
            <a:srgbClr val="8FABD4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16459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70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&amp; EXTENSION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210312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Documented power-aware implementation (~120-130 Wh/day)</a:t>
            </a:r>
            <a:endParaRPr lang="en-US" sz="14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Privacy-by-design validation (bounding-box-only)</a:t>
            </a:r>
            <a:endParaRPr lang="en-US" sz="14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 imaging domain adaptation strategy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8046720" cy="365760"/>
          </a:xfrm>
          <a:prstGeom prst="rect">
            <a:avLst/>
          </a:prstGeom>
          <a:solidFill>
            <a:srgbClr val="4A70A9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200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70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365760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enablement in Nigerian institutional context</a:t>
            </a:r>
            <a:endParaRPr lang="en-US" sz="16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Comparative model evaluation (YOLOv5n/YOLOv8n/EfficientDet-D0, ByteTrack/DeepSORT)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FEC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4A70A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REFERENCES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371600" cy="45720"/>
          </a:xfrm>
          <a:prstGeom prst="rect">
            <a:avLst/>
          </a:prstGeom>
          <a:solidFill>
            <a:srgbClr val="4A70A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459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Abu Awwad, Y., Rana, O., &amp; Perera, C. (2024). Anomaly detection on the edge using smart cameras under low-light conditions. Sensors, 24(3), 772.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Ali, M., Goyal, L., Sharma, C. M., &amp; Kumar, S. (2024). Edge-computing-enabled abnormal activity recognition for visual surveillance. Electronics, 13(2), 251.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Batzner, K., Heckler, L., &amp; König, R. (2023). EfficientAD: Accurate visual anomaly detection at millisecond-level latencies. CVPR, 12821–12830.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31546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Cheng, Y., Wang, D., Zhou, P., &amp; Zhang, T. (2018). A survey of model compression and acceleration for deep neural networks. IEEE Signal Processing Magazine, 35(1), 126–136.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36576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Duong, H.-T., Le, V.-T., &amp; Hoang, V. T. (2023). Deep learning-based anomaly detection in video surveillance: A survey. Sensors, 23(11), 5024.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41605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Ghari, B., Tourani, A., Shahbahrami, A., &amp; Gaydadjiev, G. (2024). Pedestrian detection in low-light conditions: A comprehensive survey. IEEE Access, 12, 5835–5857.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846320" y="16459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Gholami, A., Kim, S., Dong, Z., Yao, Z., Mahoney, M. W., &amp; Keutzer, K. (2021). A survey of quantization methods for efficient neural network inference. ACM Computing Surveys.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46320" y="21488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Li, C., Guo, C., Han, L. H., et al. (2021). Low-light image and video enhancement using deep learning: A survey. IEEE TPAMI, 44(12), 9396–9416.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0" y="26517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Nasir, R., Jalil, Z., Nasir, M., et al. (2025). An enhanced framework for real-time dense crowd abnormal behavior detection using YOLOv8. Artificial Intelligence Review, 58, 202.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46320" y="31546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Tan, M., Pang, R., &amp; Le, Q. V. (2020). EfficientDet: Scalable and efficient object detection. CVPR, 10781–10790.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36576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Zhou, Y., Liu, D., &amp; Huang, T. (2018). Survey of face detection on low-quality images. IEEE Access, 6, 18471–18487.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4A70A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FECE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3200400" y="2651760"/>
            <a:ext cx="2743200" cy="27432"/>
          </a:xfrm>
          <a:prstGeom prst="rect">
            <a:avLst/>
          </a:prstGeom>
          <a:solidFill>
            <a:srgbClr val="8FABD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8FAB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Resilient Multi-Indicator Edge Surveillance System</dc:title>
  <dc:subject>PptxGenJS Presentation</dc:subject>
  <dc:creator>Austine Chukwuebuka Raphael</dc:creator>
  <cp:lastModifiedBy>Austine Chukwuebuka Raphael</cp:lastModifiedBy>
  <cp:revision>1</cp:revision>
  <dcterms:created xsi:type="dcterms:W3CDTF">2026-02-18T03:47:30Z</dcterms:created>
  <dcterms:modified xsi:type="dcterms:W3CDTF">2026-02-18T03:47:30Z</dcterms:modified>
</cp:coreProperties>
</file>